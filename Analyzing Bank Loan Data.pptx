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8" r:id="rId10"/>
    <p:sldId id="269" r:id="rId11"/>
    <p:sldId id="264" r:id="rId12"/>
    <p:sldId id="265" r:id="rId13"/>
    <p:sldId id="266" r:id="rId14"/>
    <p:sldId id="267" r:id="rId15"/>
  </p:sldIdLst>
  <p:sldSz cx="18288000" cy="10287000"/>
  <p:notesSz cx="6858000" cy="9144000"/>
  <p:embeddedFontLst>
    <p:embeddedFont>
      <p:font typeface="Montserrat" panose="00000500000000000000" pitchFamily="2" charset="0"/>
      <p:regular r:id="rId17"/>
      <p:bold r:id="rId18"/>
    </p:embeddedFont>
    <p:embeddedFont>
      <p:font typeface="Montserrat Bold" panose="00000800000000000000" charset="0"/>
      <p:regular r:id="rId19"/>
    </p:embeddedFont>
    <p:embeddedFont>
      <p:font typeface="Open Sans Bold" panose="020B0604020202020204" charset="0"/>
      <p:regular r:id="rId20"/>
    </p:embeddedFont>
    <p:embeddedFont>
      <p:font typeface="TT Hoves" panose="020B0604020202020204" charset="0"/>
      <p:regular r:id="rId21"/>
    </p:embeddedFont>
    <p:embeddedFont>
      <p:font typeface="TT Hove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28" autoAdjust="0"/>
    <p:restoredTop sz="94622" autoAdjust="0"/>
  </p:normalViewPr>
  <p:slideViewPr>
    <p:cSldViewPr>
      <p:cViewPr varScale="1">
        <p:scale>
          <a:sx n="39" d="100"/>
          <a:sy n="39" d="100"/>
        </p:scale>
        <p:origin x="1244"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shti Tripathi" userId="1f6b494c1626c7c0" providerId="LiveId" clId="{6077E614-8CFD-4738-9B5E-469AD1267DDB}"/>
    <pc:docChg chg="undo custSel delSld modSld">
      <pc:chgData name="Srishti Tripathi" userId="1f6b494c1626c7c0" providerId="LiveId" clId="{6077E614-8CFD-4738-9B5E-469AD1267DDB}" dt="2026-03-04T15:26:44.489" v="54" actId="14100"/>
      <pc:docMkLst>
        <pc:docMk/>
      </pc:docMkLst>
      <pc:sldChg chg="addSp delSp modSp mod">
        <pc:chgData name="Srishti Tripathi" userId="1f6b494c1626c7c0" providerId="LiveId" clId="{6077E614-8CFD-4738-9B5E-469AD1267DDB}" dt="2026-03-04T15:26:44.489" v="54" actId="14100"/>
        <pc:sldMkLst>
          <pc:docMk/>
          <pc:sldMk cId="2347014922" sldId="268"/>
        </pc:sldMkLst>
        <pc:picChg chg="del">
          <ac:chgData name="Srishti Tripathi" userId="1f6b494c1626c7c0" providerId="LiveId" clId="{6077E614-8CFD-4738-9B5E-469AD1267DDB}" dt="2026-03-04T15:26:26.755" v="52" actId="478"/>
          <ac:picMkLst>
            <pc:docMk/>
            <pc:sldMk cId="2347014922" sldId="268"/>
            <ac:picMk id="4" creationId="{6B27845F-0755-BAC1-0E3D-BA695736C11C}"/>
          </ac:picMkLst>
        </pc:picChg>
        <pc:picChg chg="add mod">
          <ac:chgData name="Srishti Tripathi" userId="1f6b494c1626c7c0" providerId="LiveId" clId="{6077E614-8CFD-4738-9B5E-469AD1267DDB}" dt="2026-03-04T15:26:44.489" v="54" actId="14100"/>
          <ac:picMkLst>
            <pc:docMk/>
            <pc:sldMk cId="2347014922" sldId="268"/>
            <ac:picMk id="5" creationId="{F4615A05-7D05-A031-387C-6B9DDD2FFED9}"/>
          </ac:picMkLst>
        </pc:picChg>
      </pc:sldChg>
      <pc:sldChg chg="addSp delSp modSp mod">
        <pc:chgData name="Srishti Tripathi" userId="1f6b494c1626c7c0" providerId="LiveId" clId="{6077E614-8CFD-4738-9B5E-469AD1267DDB}" dt="2026-03-04T15:26:17.032" v="51" actId="931"/>
        <pc:sldMkLst>
          <pc:docMk/>
          <pc:sldMk cId="2613511991" sldId="269"/>
        </pc:sldMkLst>
        <pc:picChg chg="del">
          <ac:chgData name="Srishti Tripathi" userId="1f6b494c1626c7c0" providerId="LiveId" clId="{6077E614-8CFD-4738-9B5E-469AD1267DDB}" dt="2026-03-04T15:25:53.797" v="50" actId="478"/>
          <ac:picMkLst>
            <pc:docMk/>
            <pc:sldMk cId="2613511991" sldId="269"/>
            <ac:picMk id="3" creationId="{B891E747-636A-521D-1D68-CD2059F5509F}"/>
          </ac:picMkLst>
        </pc:picChg>
        <pc:picChg chg="add mod">
          <ac:chgData name="Srishti Tripathi" userId="1f6b494c1626c7c0" providerId="LiveId" clId="{6077E614-8CFD-4738-9B5E-469AD1267DDB}" dt="2026-03-04T15:26:17.032" v="51" actId="931"/>
          <ac:picMkLst>
            <pc:docMk/>
            <pc:sldMk cId="2613511991" sldId="269"/>
            <ac:picMk id="4" creationId="{3BA52AC2-153D-571D-55B0-B0ED537B365B}"/>
          </ac:picMkLst>
        </pc:picChg>
      </pc:sldChg>
      <pc:sldChg chg="del">
        <pc:chgData name="Srishti Tripathi" userId="1f6b494c1626c7c0" providerId="LiveId" clId="{6077E614-8CFD-4738-9B5E-469AD1267DDB}" dt="2026-03-04T15:25:49.225" v="49" actId="2696"/>
        <pc:sldMkLst>
          <pc:docMk/>
          <pc:sldMk cId="3051542376"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0A5FE6-0C29-4226-96A1-8F7E00AB12ED}"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873DD-D1E6-4E27-9A1B-C2621A804104}" type="slidenum">
              <a:rPr lang="en-IN" smtClean="0"/>
              <a:t>‹#›</a:t>
            </a:fld>
            <a:endParaRPr lang="en-IN"/>
          </a:p>
        </p:txBody>
      </p:sp>
    </p:spTree>
    <p:extLst>
      <p:ext uri="{BB962C8B-B14F-4D97-AF65-F5344CB8AC3E}">
        <p14:creationId xmlns:p14="http://schemas.microsoft.com/office/powerpoint/2010/main" val="3976926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7873DD-D1E6-4E27-9A1B-C2621A804104}" type="slidenum">
              <a:rPr lang="en-IN" smtClean="0"/>
              <a:t>7</a:t>
            </a:fld>
            <a:endParaRPr lang="en-IN"/>
          </a:p>
        </p:txBody>
      </p:sp>
    </p:spTree>
    <p:extLst>
      <p:ext uri="{BB962C8B-B14F-4D97-AF65-F5344CB8AC3E}">
        <p14:creationId xmlns:p14="http://schemas.microsoft.com/office/powerpoint/2010/main" val="1523484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grpSp>
        <p:nvGrpSpPr>
          <p:cNvPr id="2" name="Group 2"/>
          <p:cNvGrpSpPr/>
          <p:nvPr/>
        </p:nvGrpSpPr>
        <p:grpSpPr>
          <a:xfrm>
            <a:off x="2111600" y="-153702"/>
            <a:ext cx="16363038" cy="8520557"/>
            <a:chOff x="0" y="0"/>
            <a:chExt cx="4309607" cy="2244097"/>
          </a:xfrm>
        </p:grpSpPr>
        <p:sp>
          <p:nvSpPr>
            <p:cNvPr id="3" name="Freeform 3"/>
            <p:cNvSpPr/>
            <p:nvPr/>
          </p:nvSpPr>
          <p:spPr>
            <a:xfrm>
              <a:off x="0" y="0"/>
              <a:ext cx="4309607" cy="2244097"/>
            </a:xfrm>
            <a:custGeom>
              <a:avLst/>
              <a:gdLst/>
              <a:ahLst/>
              <a:cxnLst/>
              <a:rect l="l" t="t" r="r" b="b"/>
              <a:pathLst>
                <a:path w="4309607" h="2244097">
                  <a:moveTo>
                    <a:pt x="0" y="0"/>
                  </a:moveTo>
                  <a:lnTo>
                    <a:pt x="4309607" y="0"/>
                  </a:lnTo>
                  <a:lnTo>
                    <a:pt x="4309607" y="2244097"/>
                  </a:lnTo>
                  <a:lnTo>
                    <a:pt x="0" y="2244097"/>
                  </a:lnTo>
                  <a:close/>
                </a:path>
              </a:pathLst>
            </a:custGeom>
            <a:solidFill>
              <a:srgbClr val="FFFFFF"/>
            </a:solidFill>
          </p:spPr>
        </p:sp>
        <p:sp>
          <p:nvSpPr>
            <p:cNvPr id="4" name="TextBox 4"/>
            <p:cNvSpPr txBox="1"/>
            <p:nvPr/>
          </p:nvSpPr>
          <p:spPr>
            <a:xfrm>
              <a:off x="0" y="-38100"/>
              <a:ext cx="4309607" cy="22821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350272" y="9277350"/>
            <a:ext cx="14757203" cy="0"/>
          </a:xfrm>
          <a:prstGeom prst="line">
            <a:avLst/>
          </a:prstGeom>
          <a:ln w="9525" cap="flat">
            <a:solidFill>
              <a:srgbClr val="000000"/>
            </a:solidFill>
            <a:prstDash val="solid"/>
            <a:headEnd type="none" w="sm" len="sm"/>
            <a:tailEnd type="none" w="sm" len="sm"/>
          </a:ln>
        </p:spPr>
      </p:sp>
      <p:sp>
        <p:nvSpPr>
          <p:cNvPr id="7" name="Freeform 7"/>
          <p:cNvSpPr/>
          <p:nvPr/>
        </p:nvSpPr>
        <p:spPr>
          <a:xfrm rot="5400000">
            <a:off x="-723249" y="2257023"/>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4064118" y="2934991"/>
            <a:ext cx="12141977" cy="3733821"/>
          </a:xfrm>
          <a:prstGeom prst="rect">
            <a:avLst/>
          </a:prstGeom>
        </p:spPr>
        <p:txBody>
          <a:bodyPr lIns="0" tIns="0" rIns="0" bIns="0" rtlCol="0" anchor="t">
            <a:spAutoFit/>
          </a:bodyPr>
          <a:lstStyle/>
          <a:p>
            <a:pPr algn="ctr">
              <a:lnSpc>
                <a:spcPts val="9973"/>
              </a:lnSpc>
              <a:spcBef>
                <a:spcPct val="0"/>
              </a:spcBef>
            </a:pPr>
            <a:r>
              <a:rPr lang="en-US" sz="7124" b="1">
                <a:solidFill>
                  <a:srgbClr val="000000"/>
                </a:solidFill>
                <a:latin typeface="Montserrat Bold"/>
                <a:ea typeface="Montserrat Bold"/>
                <a:cs typeface="Montserrat Bold"/>
                <a:sym typeface="Montserrat Bold"/>
              </a:rPr>
              <a:t>Exploratory Data Analysis of Financial Loan Dataset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sp>
        <p:nvSpPr>
          <p:cNvPr id="2" name="TextBox 2"/>
          <p:cNvSpPr txBox="1"/>
          <p:nvPr/>
        </p:nvSpPr>
        <p:spPr>
          <a:xfrm>
            <a:off x="3124200" y="647700"/>
            <a:ext cx="10478310" cy="1184234"/>
          </a:xfrm>
          <a:prstGeom prst="rect">
            <a:avLst/>
          </a:prstGeom>
        </p:spPr>
        <p:txBody>
          <a:bodyPr lIns="0" tIns="0" rIns="0" bIns="0" rtlCol="0" anchor="t">
            <a:spAutoFit/>
          </a:bodyPr>
          <a:lstStyle/>
          <a:p>
            <a:pPr algn="ctr">
              <a:lnSpc>
                <a:spcPts val="9737"/>
              </a:lnSpc>
              <a:spcBef>
                <a:spcPct val="0"/>
              </a:spcBef>
            </a:pPr>
            <a:r>
              <a:rPr lang="en-US" sz="6955" b="1">
                <a:solidFill>
                  <a:srgbClr val="000000"/>
                </a:solidFill>
                <a:latin typeface="Montserrat Bold"/>
                <a:ea typeface="Montserrat Bold"/>
                <a:cs typeface="Montserrat Bold"/>
                <a:sym typeface="Montserrat Bold"/>
              </a:rPr>
              <a:t>PROBLEM STATEMENT</a:t>
            </a:r>
          </a:p>
        </p:txBody>
      </p:sp>
      <p:sp>
        <p:nvSpPr>
          <p:cNvPr id="3" name="TextBox 3"/>
          <p:cNvSpPr txBox="1"/>
          <p:nvPr/>
        </p:nvSpPr>
        <p:spPr>
          <a:xfrm>
            <a:off x="398093" y="4076700"/>
            <a:ext cx="17491813" cy="4817587"/>
          </a:xfrm>
          <a:prstGeom prst="rect">
            <a:avLst/>
          </a:prstGeom>
        </p:spPr>
        <p:txBody>
          <a:bodyPr lIns="0" tIns="0" rIns="0" bIns="0" rtlCol="0" anchor="t">
            <a:spAutoFit/>
          </a:bodyPr>
          <a:lstStyle/>
          <a:p>
            <a:pPr algn="ctr">
              <a:lnSpc>
                <a:spcPts val="4340"/>
              </a:lnSpc>
            </a:pPr>
            <a:r>
              <a:rPr lang="en-US" sz="3100" b="1" dirty="0">
                <a:solidFill>
                  <a:srgbClr val="000000"/>
                </a:solidFill>
                <a:latin typeface="Open Sans Bold"/>
                <a:ea typeface="Open Sans Bold"/>
                <a:cs typeface="Open Sans Bold"/>
                <a:sym typeface="Open Sans Bold"/>
              </a:rPr>
              <a:t>Financial institutions deal with large volumes of loan data, including application details, loan amounts, approval status, income levels, and more. However, without effective analysis, it is difficult to identify key patterns, evaluate risks, and make informed lending decisions.</a:t>
            </a:r>
          </a:p>
          <a:p>
            <a:pPr algn="ctr">
              <a:lnSpc>
                <a:spcPts val="4340"/>
              </a:lnSpc>
            </a:pPr>
            <a:r>
              <a:rPr lang="en-US" sz="3100" b="1" dirty="0">
                <a:solidFill>
                  <a:srgbClr val="000000"/>
                </a:solidFill>
                <a:latin typeface="Open Sans Bold"/>
                <a:ea typeface="Open Sans Bold"/>
                <a:cs typeface="Open Sans Bold"/>
                <a:sym typeface="Open Sans Bold"/>
              </a:rPr>
              <a:t>This project aims to analyze and visualize financial loan data using Tableau to uncover trends, detect high-risk categories, track loan performance over time, and provide actionable insights for better decision-making and risk management.</a:t>
            </a:r>
          </a:p>
          <a:p>
            <a:pPr algn="ctr">
              <a:lnSpc>
                <a:spcPts val="8487"/>
              </a:lnSpc>
              <a:spcBef>
                <a:spcPct val="0"/>
              </a:spcBef>
            </a:pPr>
            <a:endParaRPr lang="en-US" sz="3100" b="1" dirty="0">
              <a:solidFill>
                <a:srgbClr val="000000"/>
              </a:solidFill>
              <a:latin typeface="Open Sans Bold"/>
              <a:ea typeface="Open Sans Bold"/>
              <a:cs typeface="Open Sans Bold"/>
              <a:sym typeface="Open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3738" y="302716"/>
            <a:ext cx="13451137" cy="1483210"/>
            <a:chOff x="0" y="0"/>
            <a:chExt cx="3542686" cy="390640"/>
          </a:xfrm>
        </p:grpSpPr>
        <p:sp>
          <p:nvSpPr>
            <p:cNvPr id="3" name="Freeform 3"/>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4" name="TextBox 4"/>
            <p:cNvSpPr txBox="1"/>
            <p:nvPr/>
          </p:nvSpPr>
          <p:spPr>
            <a:xfrm>
              <a:off x="0" y="-28575"/>
              <a:ext cx="3542686" cy="419215"/>
            </a:xfrm>
            <a:prstGeom prst="rect">
              <a:avLst/>
            </a:prstGeom>
          </p:spPr>
          <p:txBody>
            <a:bodyPr lIns="50800" tIns="50800" rIns="50800" bIns="50800" rtlCol="0" anchor="ctr"/>
            <a:lstStyle/>
            <a:p>
              <a:pPr algn="ctr">
                <a:lnSpc>
                  <a:spcPts val="6999"/>
                </a:lnSpc>
              </a:pPr>
              <a:r>
                <a:rPr lang="en-US" sz="5599" b="1" spc="453">
                  <a:solidFill>
                    <a:srgbClr val="000000"/>
                  </a:solidFill>
                  <a:latin typeface="TT Hoves Bold"/>
                  <a:ea typeface="TT Hoves Bold"/>
                  <a:cs typeface="TT Hoves Bold"/>
                  <a:sym typeface="TT Hoves Bold"/>
                </a:rPr>
                <a:t>PROJECT OBJECTIVE</a:t>
              </a: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028700" y="8786866"/>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0" y="2749387"/>
            <a:ext cx="18288000" cy="8594768"/>
          </a:xfrm>
          <a:prstGeom prst="rect">
            <a:avLst/>
          </a:prstGeom>
        </p:spPr>
        <p:txBody>
          <a:bodyPr lIns="0" tIns="0" rIns="0" bIns="0" rtlCol="0" anchor="t">
            <a:spAutoFit/>
          </a:bodyPr>
          <a:lstStyle/>
          <a:p>
            <a:pPr marL="822474" lvl="1" indent="-411237" algn="l">
              <a:lnSpc>
                <a:spcPts val="5333"/>
              </a:lnSpc>
              <a:buFont typeface="Arial"/>
              <a:buChar char="•"/>
            </a:pPr>
            <a:r>
              <a:rPr lang="en-US" sz="3809" dirty="0">
                <a:solidFill>
                  <a:srgbClr val="000000"/>
                </a:solidFill>
                <a:latin typeface="Montserrat"/>
                <a:ea typeface="Montserrat"/>
                <a:cs typeface="Montserrat"/>
                <a:sym typeface="Montserrat"/>
              </a:rPr>
              <a:t>To analyze loan application data and identify key trends.</a:t>
            </a:r>
          </a:p>
          <a:p>
            <a:pPr algn="l">
              <a:lnSpc>
                <a:spcPts val="5333"/>
              </a:lnSpc>
            </a:pPr>
            <a:endParaRPr lang="en-US" sz="3809" dirty="0">
              <a:solidFill>
                <a:srgbClr val="000000"/>
              </a:solidFill>
              <a:latin typeface="Montserrat"/>
              <a:ea typeface="Montserrat"/>
              <a:cs typeface="Montserrat"/>
              <a:sym typeface="Montserrat"/>
            </a:endParaRPr>
          </a:p>
          <a:p>
            <a:pPr marL="822474" lvl="1" indent="-411237" algn="l">
              <a:lnSpc>
                <a:spcPts val="5333"/>
              </a:lnSpc>
              <a:buFont typeface="Arial"/>
              <a:buChar char="•"/>
            </a:pPr>
            <a:r>
              <a:rPr lang="en-US" sz="3809" dirty="0">
                <a:solidFill>
                  <a:srgbClr val="000000"/>
                </a:solidFill>
                <a:latin typeface="Montserrat"/>
                <a:ea typeface="Montserrat"/>
                <a:cs typeface="Montserrat"/>
                <a:sym typeface="Montserrat"/>
              </a:rPr>
              <a:t>To visualize loan distribution by status, amount, and time period.</a:t>
            </a:r>
          </a:p>
          <a:p>
            <a:pPr algn="l">
              <a:lnSpc>
                <a:spcPts val="5333"/>
              </a:lnSpc>
            </a:pPr>
            <a:endParaRPr lang="en-US" sz="3809" dirty="0">
              <a:solidFill>
                <a:srgbClr val="000000"/>
              </a:solidFill>
              <a:latin typeface="Montserrat"/>
              <a:ea typeface="Montserrat"/>
              <a:cs typeface="Montserrat"/>
              <a:sym typeface="Montserrat"/>
            </a:endParaRPr>
          </a:p>
          <a:p>
            <a:pPr marL="822474" lvl="1" indent="-411237" algn="l">
              <a:lnSpc>
                <a:spcPts val="5333"/>
              </a:lnSpc>
              <a:buFont typeface="Arial"/>
              <a:buChar char="•"/>
            </a:pPr>
            <a:r>
              <a:rPr lang="en-US" sz="3809" dirty="0">
                <a:solidFill>
                  <a:srgbClr val="000000"/>
                </a:solidFill>
                <a:latin typeface="Montserrat"/>
                <a:ea typeface="Montserrat"/>
                <a:cs typeface="Montserrat"/>
                <a:sym typeface="Montserrat"/>
              </a:rPr>
              <a:t>To detect patterns in customer behavior and risk segments.</a:t>
            </a:r>
          </a:p>
          <a:p>
            <a:pPr algn="l">
              <a:lnSpc>
                <a:spcPts val="5333"/>
              </a:lnSpc>
            </a:pPr>
            <a:endParaRPr lang="en-US" sz="3809" dirty="0">
              <a:solidFill>
                <a:srgbClr val="000000"/>
              </a:solidFill>
              <a:latin typeface="Montserrat"/>
              <a:ea typeface="Montserrat"/>
              <a:cs typeface="Montserrat"/>
              <a:sym typeface="Montserrat"/>
            </a:endParaRPr>
          </a:p>
          <a:p>
            <a:pPr marL="822474" lvl="1" indent="-411237" algn="l">
              <a:lnSpc>
                <a:spcPts val="5333"/>
              </a:lnSpc>
              <a:buFont typeface="Arial"/>
              <a:buChar char="•"/>
            </a:pPr>
            <a:r>
              <a:rPr lang="en-US" sz="3809" dirty="0">
                <a:solidFill>
                  <a:srgbClr val="000000"/>
                </a:solidFill>
                <a:latin typeface="Montserrat"/>
                <a:ea typeface="Montserrat"/>
                <a:cs typeface="Montserrat"/>
                <a:sym typeface="Montserrat"/>
              </a:rPr>
              <a:t>To create interactive dashboards for better decision-making.</a:t>
            </a:r>
          </a:p>
          <a:p>
            <a:pPr algn="l">
              <a:lnSpc>
                <a:spcPts val="5333"/>
              </a:lnSpc>
            </a:pPr>
            <a:endParaRPr lang="en-US" sz="3809" dirty="0">
              <a:solidFill>
                <a:srgbClr val="000000"/>
              </a:solidFill>
              <a:latin typeface="Montserrat"/>
              <a:ea typeface="Montserrat"/>
              <a:cs typeface="Montserrat"/>
              <a:sym typeface="Montserrat"/>
            </a:endParaRPr>
          </a:p>
          <a:p>
            <a:pPr marL="822474" lvl="1" indent="-411237" algn="l">
              <a:lnSpc>
                <a:spcPts val="5333"/>
              </a:lnSpc>
              <a:buFont typeface="Arial"/>
              <a:buChar char="•"/>
            </a:pPr>
            <a:r>
              <a:rPr lang="en-US" sz="3809" dirty="0">
                <a:solidFill>
                  <a:srgbClr val="000000"/>
                </a:solidFill>
                <a:latin typeface="Montserrat"/>
                <a:ea typeface="Montserrat"/>
                <a:cs typeface="Montserrat"/>
                <a:sym typeface="Montserrat"/>
              </a:rPr>
              <a:t>To gain insights on how income, location, and date affect loan outcomes.</a:t>
            </a:r>
          </a:p>
          <a:p>
            <a:pPr algn="ctr">
              <a:lnSpc>
                <a:spcPts val="15311"/>
              </a:lnSpc>
              <a:spcBef>
                <a:spcPct val="0"/>
              </a:spcBef>
            </a:pPr>
            <a:endParaRPr lang="en-US" sz="3809" dirty="0">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12916590" cy="1483210"/>
            <a:chOff x="0" y="0"/>
            <a:chExt cx="3542686" cy="390640"/>
          </a:xfrm>
        </p:grpSpPr>
        <p:sp>
          <p:nvSpPr>
            <p:cNvPr id="4" name="Freeform 4"/>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5" name="TextBox 5"/>
            <p:cNvSpPr txBox="1"/>
            <p:nvPr/>
          </p:nvSpPr>
          <p:spPr>
            <a:xfrm>
              <a:off x="0" y="-28575"/>
              <a:ext cx="3542686" cy="419215"/>
            </a:xfrm>
            <a:prstGeom prst="rect">
              <a:avLst/>
            </a:prstGeom>
          </p:spPr>
          <p:txBody>
            <a:bodyPr lIns="50800" tIns="50800" rIns="50800" bIns="50800" rtlCol="0" anchor="ctr"/>
            <a:lstStyle/>
            <a:p>
              <a:pPr algn="ctr">
                <a:lnSpc>
                  <a:spcPts val="7374"/>
                </a:lnSpc>
              </a:pPr>
              <a:r>
                <a:rPr lang="en-US" sz="5899" b="1" spc="477">
                  <a:solidFill>
                    <a:srgbClr val="000000"/>
                  </a:solidFill>
                  <a:latin typeface="TT Hoves Bold"/>
                  <a:ea typeface="TT Hoves Bold"/>
                  <a:cs typeface="TT Hoves Bold"/>
                  <a:sym typeface="TT Hoves Bold"/>
                </a:rPr>
                <a:t>DATA DESCRIPTION</a:t>
              </a:r>
            </a:p>
          </p:txBody>
        </p:sp>
      </p:grpSp>
      <p:sp>
        <p:nvSpPr>
          <p:cNvPr id="6" name="Freeform 6"/>
          <p:cNvSpPr/>
          <p:nvPr/>
        </p:nvSpPr>
        <p:spPr>
          <a:xfrm>
            <a:off x="13755402" y="9022583"/>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0" y="3471235"/>
            <a:ext cx="18288000" cy="7357752"/>
          </a:xfrm>
          <a:prstGeom prst="rect">
            <a:avLst/>
          </a:prstGeom>
        </p:spPr>
        <p:txBody>
          <a:bodyPr lIns="0" tIns="0" rIns="0" bIns="0" rtlCol="0" anchor="t">
            <a:spAutoFit/>
          </a:bodyPr>
          <a:lstStyle/>
          <a:p>
            <a:pPr marL="1029437" lvl="1" indent="-514718" algn="l">
              <a:lnSpc>
                <a:spcPts val="6675"/>
              </a:lnSpc>
              <a:buFont typeface="Arial"/>
              <a:buChar char="•"/>
            </a:pPr>
            <a:r>
              <a:rPr lang="en-US" sz="4768" b="1" dirty="0">
                <a:solidFill>
                  <a:srgbClr val="000000"/>
                </a:solidFill>
                <a:latin typeface="Montserrat Bold"/>
                <a:ea typeface="Montserrat Bold"/>
                <a:cs typeface="Montserrat Bold"/>
                <a:sym typeface="Montserrat Bold"/>
              </a:rPr>
              <a:t>Data Source: </a:t>
            </a:r>
            <a:r>
              <a:rPr lang="en-US" sz="4768" dirty="0">
                <a:solidFill>
                  <a:srgbClr val="000000"/>
                </a:solidFill>
                <a:latin typeface="Montserrat"/>
                <a:ea typeface="Montserrat"/>
                <a:cs typeface="Montserrat"/>
                <a:sym typeface="Montserrat"/>
              </a:rPr>
              <a:t>financial_loan.csv</a:t>
            </a:r>
          </a:p>
          <a:p>
            <a:pPr marL="1029437" lvl="1" indent="-514718" algn="l">
              <a:lnSpc>
                <a:spcPts val="6675"/>
              </a:lnSpc>
              <a:buFont typeface="Arial"/>
              <a:buChar char="•"/>
            </a:pPr>
            <a:r>
              <a:rPr lang="en-US" sz="4768" b="1" dirty="0">
                <a:solidFill>
                  <a:srgbClr val="000000"/>
                </a:solidFill>
                <a:latin typeface="Montserrat Bold"/>
                <a:ea typeface="Montserrat Bold"/>
                <a:cs typeface="Montserrat Bold"/>
                <a:sym typeface="Montserrat Bold"/>
              </a:rPr>
              <a:t>Total Records: </a:t>
            </a:r>
            <a:r>
              <a:rPr lang="en-US" sz="4768" dirty="0">
                <a:solidFill>
                  <a:srgbClr val="000000"/>
                </a:solidFill>
                <a:latin typeface="Montserrat"/>
                <a:ea typeface="Montserrat Bold"/>
                <a:cs typeface="Montserrat Bold"/>
                <a:sym typeface="Montserrat"/>
              </a:rPr>
              <a:t>982</a:t>
            </a:r>
            <a:endParaRPr lang="en-US" sz="4768" dirty="0">
              <a:solidFill>
                <a:srgbClr val="000000"/>
              </a:solidFill>
              <a:latin typeface="Montserrat"/>
              <a:ea typeface="Montserrat"/>
              <a:cs typeface="Montserrat"/>
              <a:sym typeface="Montserrat"/>
            </a:endParaRPr>
          </a:p>
          <a:p>
            <a:pPr marL="1029437" lvl="1" indent="-514718" algn="l">
              <a:lnSpc>
                <a:spcPts val="6675"/>
              </a:lnSpc>
              <a:buFont typeface="Arial"/>
              <a:buChar char="•"/>
            </a:pPr>
            <a:r>
              <a:rPr lang="en-US" sz="4768" b="1" dirty="0">
                <a:solidFill>
                  <a:srgbClr val="000000"/>
                </a:solidFill>
                <a:latin typeface="Montserrat Bold"/>
                <a:ea typeface="Montserrat Bold"/>
                <a:cs typeface="Montserrat Bold"/>
                <a:sym typeface="Montserrat Bold"/>
              </a:rPr>
              <a:t>Key Columns:  </a:t>
            </a:r>
          </a:p>
          <a:p>
            <a:pPr algn="l">
              <a:lnSpc>
                <a:spcPts val="6675"/>
              </a:lnSpc>
            </a:pP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loan_id</a:t>
            </a: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issue_date</a:t>
            </a: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loan_amount</a:t>
            </a:r>
            <a:endParaRPr lang="en-US" sz="4768" dirty="0">
              <a:solidFill>
                <a:srgbClr val="000000"/>
              </a:solidFill>
              <a:latin typeface="Montserrat"/>
              <a:ea typeface="Montserrat"/>
              <a:cs typeface="Montserrat"/>
              <a:sym typeface="Montserrat"/>
            </a:endParaRPr>
          </a:p>
          <a:p>
            <a:pPr algn="l">
              <a:lnSpc>
                <a:spcPts val="6675"/>
              </a:lnSpc>
            </a:pP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loan_status</a:t>
            </a: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customer_income</a:t>
            </a:r>
            <a:r>
              <a:rPr lang="en-US" sz="4768" dirty="0">
                <a:solidFill>
                  <a:srgbClr val="000000"/>
                </a:solidFill>
                <a:latin typeface="Montserrat"/>
                <a:ea typeface="Montserrat"/>
                <a:cs typeface="Montserrat"/>
                <a:sym typeface="Montserrat"/>
              </a:rPr>
              <a:t>, term, purpose</a:t>
            </a:r>
          </a:p>
          <a:p>
            <a:pPr algn="l">
              <a:lnSpc>
                <a:spcPts val="6675"/>
              </a:lnSpc>
            </a:pPr>
            <a:r>
              <a:rPr lang="en-US" sz="4768" dirty="0">
                <a:solidFill>
                  <a:srgbClr val="000000"/>
                </a:solidFill>
                <a:latin typeface="Montserrat"/>
                <a:ea typeface="Montserrat"/>
                <a:cs typeface="Montserrat"/>
                <a:sym typeface="Montserrat"/>
              </a:rPr>
              <a:t>       location/state, </a:t>
            </a:r>
            <a:r>
              <a:rPr lang="en-US" sz="4768" dirty="0" err="1">
                <a:solidFill>
                  <a:srgbClr val="000000"/>
                </a:solidFill>
                <a:latin typeface="Montserrat"/>
                <a:ea typeface="Montserrat"/>
                <a:cs typeface="Montserrat"/>
                <a:sym typeface="Montserrat"/>
              </a:rPr>
              <a:t>interest_rate</a:t>
            </a:r>
            <a:r>
              <a:rPr lang="en-US" sz="4768" dirty="0">
                <a:solidFill>
                  <a:srgbClr val="000000"/>
                </a:solidFill>
                <a:latin typeface="Montserrat"/>
                <a:ea typeface="Montserrat"/>
                <a:cs typeface="Montserrat"/>
                <a:sym typeface="Montserrat"/>
              </a:rPr>
              <a:t>, </a:t>
            </a:r>
            <a:r>
              <a:rPr lang="en-US" sz="4768" dirty="0" err="1">
                <a:solidFill>
                  <a:srgbClr val="000000"/>
                </a:solidFill>
                <a:latin typeface="Montserrat"/>
                <a:ea typeface="Montserrat"/>
                <a:cs typeface="Montserrat"/>
                <a:sym typeface="Montserrat"/>
              </a:rPr>
              <a:t>employment_status</a:t>
            </a:r>
            <a:r>
              <a:rPr lang="en-US" sz="4768" dirty="0">
                <a:solidFill>
                  <a:srgbClr val="000000"/>
                </a:solidFill>
                <a:latin typeface="Montserrat"/>
                <a:ea typeface="Montserrat"/>
                <a:cs typeface="Montserrat"/>
                <a:sym typeface="Montserrat"/>
              </a:rPr>
              <a:t>  </a:t>
            </a:r>
          </a:p>
          <a:p>
            <a:pPr algn="l">
              <a:lnSpc>
                <a:spcPts val="19083"/>
              </a:lnSpc>
              <a:spcBef>
                <a:spcPct val="0"/>
              </a:spcBef>
            </a:pPr>
            <a:endParaRPr lang="en-US" sz="4768" dirty="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100743"/>
            <a:ext cx="12982323" cy="1483210"/>
            <a:chOff x="0" y="0"/>
            <a:chExt cx="3542686" cy="390640"/>
          </a:xfrm>
        </p:grpSpPr>
        <p:sp>
          <p:nvSpPr>
            <p:cNvPr id="4" name="Freeform 4"/>
            <p:cNvSpPr/>
            <p:nvPr/>
          </p:nvSpPr>
          <p:spPr>
            <a:xfrm>
              <a:off x="0" y="0"/>
              <a:ext cx="3542686" cy="390640"/>
            </a:xfrm>
            <a:custGeom>
              <a:avLst/>
              <a:gdLst/>
              <a:ahLst/>
              <a:cxnLst/>
              <a:rect l="l" t="t" r="r" b="b"/>
              <a:pathLst>
                <a:path w="3542686" h="390640">
                  <a:moveTo>
                    <a:pt x="57556" y="0"/>
                  </a:moveTo>
                  <a:lnTo>
                    <a:pt x="3485131" y="0"/>
                  </a:lnTo>
                  <a:cubicBezTo>
                    <a:pt x="3516918" y="0"/>
                    <a:pt x="3542686" y="25769"/>
                    <a:pt x="3542686" y="57556"/>
                  </a:cubicBezTo>
                  <a:lnTo>
                    <a:pt x="3542686" y="333084"/>
                  </a:lnTo>
                  <a:cubicBezTo>
                    <a:pt x="3542686" y="364871"/>
                    <a:pt x="3516918" y="390640"/>
                    <a:pt x="3485131" y="390640"/>
                  </a:cubicBezTo>
                  <a:lnTo>
                    <a:pt x="57556" y="390640"/>
                  </a:lnTo>
                  <a:cubicBezTo>
                    <a:pt x="25769" y="390640"/>
                    <a:pt x="0" y="364871"/>
                    <a:pt x="0" y="333084"/>
                  </a:cubicBezTo>
                  <a:lnTo>
                    <a:pt x="0" y="57556"/>
                  </a:lnTo>
                  <a:cubicBezTo>
                    <a:pt x="0" y="25769"/>
                    <a:pt x="25769" y="0"/>
                    <a:pt x="57556" y="0"/>
                  </a:cubicBezTo>
                  <a:close/>
                </a:path>
              </a:pathLst>
            </a:custGeom>
            <a:solidFill>
              <a:srgbClr val="92B8DD"/>
            </a:solidFill>
          </p:spPr>
        </p:sp>
        <p:sp>
          <p:nvSpPr>
            <p:cNvPr id="5" name="TextBox 5"/>
            <p:cNvSpPr txBox="1"/>
            <p:nvPr/>
          </p:nvSpPr>
          <p:spPr>
            <a:xfrm>
              <a:off x="0" y="-38100"/>
              <a:ext cx="3542686" cy="428740"/>
            </a:xfrm>
            <a:prstGeom prst="rect">
              <a:avLst/>
            </a:prstGeom>
          </p:spPr>
          <p:txBody>
            <a:bodyPr lIns="50800" tIns="50800" rIns="50800" bIns="50800" rtlCol="0" anchor="ctr"/>
            <a:lstStyle/>
            <a:p>
              <a:pPr algn="ctr">
                <a:lnSpc>
                  <a:spcPts val="8374"/>
                </a:lnSpc>
              </a:pPr>
              <a:r>
                <a:rPr lang="en-US" sz="6699" b="1" spc="542">
                  <a:solidFill>
                    <a:srgbClr val="000000"/>
                  </a:solidFill>
                  <a:latin typeface="TT Hoves Bold"/>
                  <a:ea typeface="TT Hoves Bold"/>
                  <a:cs typeface="TT Hoves Bold"/>
                  <a:sym typeface="TT Hoves Bold"/>
                </a:rPr>
                <a:t>SQL Queries</a:t>
              </a:r>
            </a:p>
          </p:txBody>
        </p:sp>
      </p:grpSp>
      <p:sp>
        <p:nvSpPr>
          <p:cNvPr id="6" name="Freeform 6"/>
          <p:cNvSpPr/>
          <p:nvPr/>
        </p:nvSpPr>
        <p:spPr>
          <a:xfrm>
            <a:off x="157157" y="5340387"/>
            <a:ext cx="5056786" cy="2865496"/>
          </a:xfrm>
          <a:custGeom>
            <a:avLst/>
            <a:gdLst/>
            <a:ahLst/>
            <a:cxnLst/>
            <a:rect l="l" t="t" r="r" b="b"/>
            <a:pathLst>
              <a:path w="5056786" h="2865496">
                <a:moveTo>
                  <a:pt x="0" y="0"/>
                </a:moveTo>
                <a:lnTo>
                  <a:pt x="5056786" y="0"/>
                </a:lnTo>
                <a:lnTo>
                  <a:pt x="5056786" y="2865496"/>
                </a:lnTo>
                <a:lnTo>
                  <a:pt x="0" y="2865496"/>
                </a:lnTo>
                <a:lnTo>
                  <a:pt x="0" y="0"/>
                </a:lnTo>
                <a:close/>
              </a:path>
            </a:pathLst>
          </a:custGeom>
          <a:blipFill>
            <a:blip r:embed="rId4"/>
            <a:stretch>
              <a:fillRect l="-11943" r="-78773" b="-27527"/>
            </a:stretch>
          </a:blipFill>
        </p:spPr>
      </p:sp>
      <p:sp>
        <p:nvSpPr>
          <p:cNvPr id="9" name="TextBox 9"/>
          <p:cNvSpPr txBox="1"/>
          <p:nvPr/>
        </p:nvSpPr>
        <p:spPr>
          <a:xfrm>
            <a:off x="157157" y="1428729"/>
            <a:ext cx="5697835" cy="1701300"/>
          </a:xfrm>
          <a:prstGeom prst="rect">
            <a:avLst/>
          </a:prstGeom>
        </p:spPr>
        <p:txBody>
          <a:bodyPr lIns="0" tIns="0" rIns="0" bIns="0" rtlCol="0" anchor="t">
            <a:spAutoFit/>
          </a:bodyPr>
          <a:lstStyle/>
          <a:p>
            <a:pPr algn="ctr">
              <a:lnSpc>
                <a:spcPts val="4500"/>
              </a:lnSpc>
              <a:spcBef>
                <a:spcPct val="0"/>
              </a:spcBef>
            </a:pPr>
            <a:r>
              <a:rPr lang="en-US" sz="3600" b="1" spc="291" dirty="0">
                <a:solidFill>
                  <a:srgbClr val="000000"/>
                </a:solidFill>
                <a:latin typeface="TT Hoves Bold"/>
                <a:ea typeface="TT Hoves Bold"/>
                <a:cs typeface="TT Hoves Bold"/>
                <a:sym typeface="TT Hoves Bold"/>
              </a:rPr>
              <a:t>Total  loan application</a:t>
            </a:r>
          </a:p>
          <a:p>
            <a:pPr algn="ctr">
              <a:lnSpc>
                <a:spcPts val="4500"/>
              </a:lnSpc>
              <a:spcBef>
                <a:spcPct val="0"/>
              </a:spcBef>
            </a:pPr>
            <a:endParaRPr lang="en-US" sz="3600" b="1" spc="291" dirty="0">
              <a:solidFill>
                <a:srgbClr val="000000"/>
              </a:solidFill>
              <a:latin typeface="TT Hoves Bold"/>
              <a:ea typeface="TT Hoves Bold"/>
              <a:cs typeface="TT Hoves Bold"/>
              <a:sym typeface="TT Hoves Bold"/>
            </a:endParaRPr>
          </a:p>
        </p:txBody>
      </p:sp>
      <p:sp>
        <p:nvSpPr>
          <p:cNvPr id="10" name="TextBox 10"/>
          <p:cNvSpPr txBox="1"/>
          <p:nvPr/>
        </p:nvSpPr>
        <p:spPr>
          <a:xfrm>
            <a:off x="240658" y="2927359"/>
            <a:ext cx="5697835" cy="1720727"/>
          </a:xfrm>
          <a:prstGeom prst="rect">
            <a:avLst/>
          </a:prstGeom>
        </p:spPr>
        <p:txBody>
          <a:bodyPr wrap="square" lIns="0" tIns="0" rIns="0" bIns="0" rtlCol="0" anchor="t">
            <a:spAutoFit/>
          </a:bodyPr>
          <a:lstStyle/>
          <a:p>
            <a:pPr algn="ctr">
              <a:lnSpc>
                <a:spcPts val="3374"/>
              </a:lnSpc>
              <a:spcBef>
                <a:spcPct val="0"/>
              </a:spcBef>
            </a:pPr>
            <a:r>
              <a:rPr lang="en-US" sz="2699" spc="218" dirty="0">
                <a:solidFill>
                  <a:srgbClr val="000000"/>
                </a:solidFill>
                <a:latin typeface="Arial" panose="020B0604020202020204" pitchFamily="34" charset="0"/>
                <a:ea typeface="TT Hoves"/>
                <a:cs typeface="Arial" panose="020B0604020202020204" pitchFamily="34" charset="0"/>
                <a:sym typeface="TT Hoves"/>
              </a:rPr>
              <a:t>select count(id)as </a:t>
            </a:r>
          </a:p>
          <a:p>
            <a:pPr algn="ctr">
              <a:lnSpc>
                <a:spcPts val="3374"/>
              </a:lnSpc>
              <a:spcBef>
                <a:spcPct val="0"/>
              </a:spcBef>
            </a:pPr>
            <a:r>
              <a:rPr lang="en-US" sz="2699" spc="218" dirty="0" err="1">
                <a:solidFill>
                  <a:srgbClr val="000000"/>
                </a:solidFill>
                <a:latin typeface="Arial" panose="020B0604020202020204" pitchFamily="34" charset="0"/>
                <a:ea typeface="TT Hoves"/>
                <a:cs typeface="Arial" panose="020B0604020202020204" pitchFamily="34" charset="0"/>
                <a:sym typeface="TT Hoves"/>
              </a:rPr>
              <a:t>Total_loan_apllication</a:t>
            </a:r>
            <a:endParaRPr lang="en-US" sz="2699" spc="218"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374"/>
              </a:lnSpc>
              <a:spcBef>
                <a:spcPct val="0"/>
              </a:spcBef>
            </a:pPr>
            <a:r>
              <a:rPr lang="en-US" sz="2699" spc="218" dirty="0">
                <a:solidFill>
                  <a:srgbClr val="000000"/>
                </a:solidFill>
                <a:latin typeface="Arial" panose="020B0604020202020204" pitchFamily="34" charset="0"/>
                <a:ea typeface="TT Hoves"/>
                <a:cs typeface="Arial" panose="020B0604020202020204" pitchFamily="34" charset="0"/>
                <a:sym typeface="TT Hoves"/>
              </a:rPr>
              <a:t> from </a:t>
            </a:r>
            <a:r>
              <a:rPr lang="en-US" sz="2699" spc="218" dirty="0" err="1">
                <a:solidFill>
                  <a:srgbClr val="000000"/>
                </a:solidFill>
                <a:latin typeface="Arial" panose="020B0604020202020204" pitchFamily="34" charset="0"/>
                <a:ea typeface="TT Hoves"/>
                <a:cs typeface="Arial" panose="020B0604020202020204" pitchFamily="34" charset="0"/>
                <a:sym typeface="TT Hoves"/>
              </a:rPr>
              <a:t>financial_loan</a:t>
            </a:r>
            <a:r>
              <a:rPr lang="en-US" sz="2699" spc="218" dirty="0">
                <a:solidFill>
                  <a:srgbClr val="000000"/>
                </a:solidFill>
                <a:latin typeface="Arial" panose="020B0604020202020204" pitchFamily="34" charset="0"/>
                <a:ea typeface="TT Hoves"/>
                <a:cs typeface="Arial" panose="020B0604020202020204" pitchFamily="34" charset="0"/>
                <a:sym typeface="TT Hoves"/>
              </a:rPr>
              <a:t>;</a:t>
            </a:r>
          </a:p>
          <a:p>
            <a:pPr algn="ctr">
              <a:lnSpc>
                <a:spcPts val="3374"/>
              </a:lnSpc>
              <a:spcBef>
                <a:spcPct val="0"/>
              </a:spcBef>
            </a:pPr>
            <a:endParaRPr lang="en-US" sz="2699" spc="218" dirty="0">
              <a:solidFill>
                <a:srgbClr val="000000"/>
              </a:solidFill>
              <a:latin typeface="Arial" panose="020B0604020202020204" pitchFamily="34" charset="0"/>
              <a:ea typeface="TT Hoves"/>
              <a:cs typeface="Arial" panose="020B0604020202020204" pitchFamily="34" charset="0"/>
              <a:sym typeface="TT Hoves"/>
            </a:endParaRPr>
          </a:p>
        </p:txBody>
      </p:sp>
      <p:sp>
        <p:nvSpPr>
          <p:cNvPr id="11" name="TextBox 11"/>
          <p:cNvSpPr txBox="1"/>
          <p:nvPr/>
        </p:nvSpPr>
        <p:spPr>
          <a:xfrm>
            <a:off x="6783482" y="1428729"/>
            <a:ext cx="4036918" cy="1024448"/>
          </a:xfrm>
          <a:prstGeom prst="rect">
            <a:avLst/>
          </a:prstGeom>
        </p:spPr>
        <p:txBody>
          <a:bodyPr wrap="square" lIns="0" tIns="0" rIns="0" bIns="0" rtlCol="0" anchor="t">
            <a:spAutoFit/>
          </a:bodyPr>
          <a:lstStyle/>
          <a:p>
            <a:pPr algn="ctr">
              <a:lnSpc>
                <a:spcPts val="4108"/>
              </a:lnSpc>
            </a:pPr>
            <a:r>
              <a:rPr lang="en-US" sz="3286" b="1" spc="266" dirty="0">
                <a:solidFill>
                  <a:srgbClr val="000000"/>
                </a:solidFill>
                <a:latin typeface="TT Hoves Bold"/>
                <a:ea typeface="TT Hoves Bold"/>
                <a:cs typeface="TT Hoves Bold"/>
                <a:sym typeface="TT Hoves Bold"/>
              </a:rPr>
              <a:t>Month-to-date </a:t>
            </a:r>
          </a:p>
          <a:p>
            <a:pPr algn="ctr">
              <a:lnSpc>
                <a:spcPts val="4108"/>
              </a:lnSpc>
              <a:spcBef>
                <a:spcPct val="0"/>
              </a:spcBef>
            </a:pPr>
            <a:r>
              <a:rPr lang="en-US" sz="3286" b="1" spc="266" dirty="0">
                <a:solidFill>
                  <a:srgbClr val="000000"/>
                </a:solidFill>
                <a:latin typeface="TT Hoves Bold"/>
                <a:ea typeface="TT Hoves Bold"/>
                <a:cs typeface="TT Hoves Bold"/>
                <a:sym typeface="TT Hoves Bold"/>
              </a:rPr>
              <a:t>total Application</a:t>
            </a:r>
          </a:p>
        </p:txBody>
      </p:sp>
      <p:sp>
        <p:nvSpPr>
          <p:cNvPr id="12" name="TextBox 12"/>
          <p:cNvSpPr txBox="1"/>
          <p:nvPr/>
        </p:nvSpPr>
        <p:spPr>
          <a:xfrm>
            <a:off x="5854992" y="2868833"/>
            <a:ext cx="5775524" cy="2496068"/>
          </a:xfrm>
          <a:prstGeom prst="rect">
            <a:avLst/>
          </a:prstGeom>
        </p:spPr>
        <p:txBody>
          <a:bodyPr lIns="0" tIns="0" rIns="0" bIns="0" rtlCol="0" anchor="t">
            <a:spAutoFit/>
          </a:bodyPr>
          <a:lstStyle/>
          <a:p>
            <a:pPr algn="ctr">
              <a:lnSpc>
                <a:spcPts val="2848"/>
              </a:lnSpc>
              <a:spcBef>
                <a:spcPct val="0"/>
              </a:spcBef>
            </a:pPr>
            <a:r>
              <a:rPr lang="en-US" sz="2400" spc="184" dirty="0">
                <a:solidFill>
                  <a:srgbClr val="000000"/>
                </a:solidFill>
                <a:latin typeface="Arial" panose="020B0604020202020204" pitchFamily="34" charset="0"/>
                <a:ea typeface="TT Hoves"/>
                <a:cs typeface="Arial" panose="020B0604020202020204" pitchFamily="34" charset="0"/>
                <a:sym typeface="TT Hoves"/>
              </a:rPr>
              <a:t>SELECT COUNT(id) AS December_2021_loans</a:t>
            </a:r>
          </a:p>
          <a:p>
            <a:pPr algn="ctr">
              <a:lnSpc>
                <a:spcPts val="2848"/>
              </a:lnSpc>
              <a:spcBef>
                <a:spcPct val="0"/>
              </a:spcBef>
            </a:pPr>
            <a:r>
              <a:rPr lang="en-US" sz="2400" spc="184" dirty="0">
                <a:solidFill>
                  <a:srgbClr val="000000"/>
                </a:solidFill>
                <a:latin typeface="Arial" panose="020B0604020202020204" pitchFamily="34" charset="0"/>
                <a:ea typeface="TT Hoves"/>
                <a:cs typeface="Arial" panose="020B0604020202020204" pitchFamily="34" charset="0"/>
                <a:sym typeface="TT Hoves"/>
              </a:rPr>
              <a:t>FROM </a:t>
            </a:r>
            <a:r>
              <a:rPr lang="en-US" sz="2400" spc="184"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400" spc="184"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2848"/>
              </a:lnSpc>
              <a:spcBef>
                <a:spcPct val="0"/>
              </a:spcBef>
            </a:pPr>
            <a:r>
              <a:rPr lang="en-US" sz="2400" spc="184" dirty="0">
                <a:solidFill>
                  <a:srgbClr val="000000"/>
                </a:solidFill>
                <a:latin typeface="Arial" panose="020B0604020202020204" pitchFamily="34" charset="0"/>
                <a:ea typeface="TT Hoves"/>
                <a:cs typeface="Arial" panose="020B0604020202020204" pitchFamily="34" charset="0"/>
                <a:sym typeface="TT Hoves"/>
              </a:rPr>
              <a:t>WHERE </a:t>
            </a:r>
            <a:r>
              <a:rPr lang="en-US" sz="2400" spc="184" dirty="0" err="1">
                <a:solidFill>
                  <a:srgbClr val="000000"/>
                </a:solidFill>
                <a:latin typeface="Arial" panose="020B0604020202020204" pitchFamily="34" charset="0"/>
                <a:ea typeface="TT Hoves"/>
                <a:cs typeface="Arial" panose="020B0604020202020204" pitchFamily="34" charset="0"/>
                <a:sym typeface="TT Hoves"/>
              </a:rPr>
              <a:t>issue_date</a:t>
            </a:r>
            <a:endParaRPr lang="en-US" sz="2400" spc="184"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2848"/>
              </a:lnSpc>
              <a:spcBef>
                <a:spcPct val="0"/>
              </a:spcBef>
            </a:pPr>
            <a:r>
              <a:rPr lang="en-US" sz="2400" spc="184" dirty="0">
                <a:solidFill>
                  <a:srgbClr val="000000"/>
                </a:solidFill>
                <a:latin typeface="Arial" panose="020B0604020202020204" pitchFamily="34" charset="0"/>
                <a:ea typeface="TT Hoves"/>
                <a:cs typeface="Arial" panose="020B0604020202020204" pitchFamily="34" charset="0"/>
                <a:sym typeface="TT Hoves"/>
              </a:rPr>
              <a:t> BETWEEN '01-01-2021' AND '31-12-2021';</a:t>
            </a:r>
          </a:p>
          <a:p>
            <a:pPr algn="ctr">
              <a:lnSpc>
                <a:spcPts val="2848"/>
              </a:lnSpc>
              <a:spcBef>
                <a:spcPct val="0"/>
              </a:spcBef>
            </a:pPr>
            <a:endParaRPr lang="en-US" sz="2278" spc="184" dirty="0">
              <a:solidFill>
                <a:srgbClr val="000000"/>
              </a:solidFill>
              <a:latin typeface="TT Hoves"/>
              <a:ea typeface="TT Hoves"/>
              <a:cs typeface="TT Hoves"/>
              <a:sym typeface="TT Hoves"/>
            </a:endParaRPr>
          </a:p>
        </p:txBody>
      </p:sp>
      <p:sp>
        <p:nvSpPr>
          <p:cNvPr id="13" name="TextBox 13"/>
          <p:cNvSpPr txBox="1"/>
          <p:nvPr/>
        </p:nvSpPr>
        <p:spPr>
          <a:xfrm>
            <a:off x="11794669" y="1538912"/>
            <a:ext cx="5045531" cy="900118"/>
          </a:xfrm>
          <a:prstGeom prst="rect">
            <a:avLst/>
          </a:prstGeom>
        </p:spPr>
        <p:txBody>
          <a:bodyPr wrap="square" lIns="0" tIns="0" rIns="0" bIns="0" rtlCol="0" anchor="t">
            <a:spAutoFit/>
          </a:bodyPr>
          <a:lstStyle/>
          <a:p>
            <a:pPr algn="ctr">
              <a:lnSpc>
                <a:spcPts val="3630"/>
              </a:lnSpc>
              <a:spcBef>
                <a:spcPct val="0"/>
              </a:spcBef>
            </a:pPr>
            <a:r>
              <a:rPr lang="en-US" sz="2904" b="1" spc="235" dirty="0">
                <a:solidFill>
                  <a:srgbClr val="000000"/>
                </a:solidFill>
                <a:latin typeface="TT Hoves Bold"/>
                <a:ea typeface="TT Hoves Bold"/>
                <a:cs typeface="TT Hoves Bold"/>
                <a:sym typeface="TT Hoves Bold"/>
              </a:rPr>
              <a:t>PMTD loan applications</a:t>
            </a:r>
          </a:p>
          <a:p>
            <a:pPr algn="ctr">
              <a:lnSpc>
                <a:spcPts val="3630"/>
              </a:lnSpc>
              <a:spcBef>
                <a:spcPct val="0"/>
              </a:spcBef>
            </a:pPr>
            <a:r>
              <a:rPr lang="en-US" sz="2904" b="1" spc="235" dirty="0">
                <a:solidFill>
                  <a:srgbClr val="000000"/>
                </a:solidFill>
                <a:latin typeface="TT Hoves Bold"/>
                <a:ea typeface="TT Hoves Bold"/>
                <a:cs typeface="TT Hoves Bold"/>
                <a:sym typeface="TT Hoves Bold"/>
              </a:rPr>
              <a:t>paragraph text</a:t>
            </a:r>
          </a:p>
        </p:txBody>
      </p:sp>
      <p:sp>
        <p:nvSpPr>
          <p:cNvPr id="14" name="TextBox 14"/>
          <p:cNvSpPr txBox="1"/>
          <p:nvPr/>
        </p:nvSpPr>
        <p:spPr>
          <a:xfrm>
            <a:off x="11953623" y="2878358"/>
            <a:ext cx="5305677" cy="2372444"/>
          </a:xfrm>
          <a:prstGeom prst="rect">
            <a:avLst/>
          </a:prstGeom>
        </p:spPr>
        <p:txBody>
          <a:bodyPr lIns="0" tIns="0" rIns="0" bIns="0" rtlCol="0" anchor="t">
            <a:spAutoFit/>
          </a:bodyPr>
          <a:lstStyle/>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SELECT COUNT(id) AS</a:t>
            </a:r>
          </a:p>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Previous_December_2021_loans</a:t>
            </a:r>
          </a:p>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FROM </a:t>
            </a:r>
            <a:r>
              <a:rPr lang="en-US" sz="2400" spc="173"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400" spc="173"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WHERE </a:t>
            </a:r>
            <a:r>
              <a:rPr lang="en-US" sz="2400" spc="173" dirty="0" err="1">
                <a:solidFill>
                  <a:srgbClr val="000000"/>
                </a:solidFill>
                <a:latin typeface="Arial" panose="020B0604020202020204" pitchFamily="34" charset="0"/>
                <a:ea typeface="TT Hoves"/>
                <a:cs typeface="Arial" panose="020B0604020202020204" pitchFamily="34" charset="0"/>
                <a:sym typeface="TT Hoves"/>
              </a:rPr>
              <a:t>issue_date</a:t>
            </a:r>
            <a:endParaRPr lang="en-US" sz="2400" spc="173"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 BETWEEN '01-11-2021' </a:t>
            </a:r>
          </a:p>
          <a:p>
            <a:pPr algn="ctr">
              <a:lnSpc>
                <a:spcPts val="2681"/>
              </a:lnSpc>
              <a:spcBef>
                <a:spcPct val="0"/>
              </a:spcBef>
            </a:pPr>
            <a:r>
              <a:rPr lang="en-US" sz="2400" spc="173" dirty="0">
                <a:solidFill>
                  <a:srgbClr val="000000"/>
                </a:solidFill>
                <a:latin typeface="Arial" panose="020B0604020202020204" pitchFamily="34" charset="0"/>
                <a:ea typeface="TT Hoves"/>
                <a:cs typeface="Arial" panose="020B0604020202020204" pitchFamily="34" charset="0"/>
                <a:sym typeface="TT Hoves"/>
              </a:rPr>
              <a:t>AND '30-11-2021';</a:t>
            </a:r>
          </a:p>
          <a:p>
            <a:pPr algn="ctr">
              <a:lnSpc>
                <a:spcPts val="2306"/>
              </a:lnSpc>
              <a:spcBef>
                <a:spcPct val="0"/>
              </a:spcBef>
            </a:pPr>
            <a:endParaRPr lang="en-US" sz="2145" spc="173" dirty="0">
              <a:solidFill>
                <a:srgbClr val="000000"/>
              </a:solidFill>
              <a:latin typeface="TT Hoves"/>
              <a:ea typeface="TT Hoves"/>
              <a:cs typeface="TT Hoves"/>
              <a:sym typeface="TT Hoves"/>
            </a:endParaRPr>
          </a:p>
        </p:txBody>
      </p:sp>
      <p:pic>
        <p:nvPicPr>
          <p:cNvPr id="16" name="Picture 15">
            <a:extLst>
              <a:ext uri="{FF2B5EF4-FFF2-40B4-BE49-F238E27FC236}">
                <a16:creationId xmlns:a16="http://schemas.microsoft.com/office/drawing/2014/main" id="{3BF1CE65-73A9-6987-1038-3DE45F42B6A4}"/>
              </a:ext>
            </a:extLst>
          </p:cNvPr>
          <p:cNvPicPr>
            <a:picLocks noChangeAspect="1"/>
          </p:cNvPicPr>
          <p:nvPr/>
        </p:nvPicPr>
        <p:blipFill>
          <a:blip r:embed="rId5"/>
          <a:stretch>
            <a:fillRect/>
          </a:stretch>
        </p:blipFill>
        <p:spPr>
          <a:xfrm>
            <a:off x="5614423" y="5281862"/>
            <a:ext cx="6016094" cy="2496068"/>
          </a:xfrm>
          <a:prstGeom prst="rect">
            <a:avLst/>
          </a:prstGeom>
        </p:spPr>
      </p:pic>
      <p:pic>
        <p:nvPicPr>
          <p:cNvPr id="18" name="Picture 17">
            <a:extLst>
              <a:ext uri="{FF2B5EF4-FFF2-40B4-BE49-F238E27FC236}">
                <a16:creationId xmlns:a16="http://schemas.microsoft.com/office/drawing/2014/main" id="{8B82B321-1540-2A31-98FE-B098E6C035F7}"/>
              </a:ext>
            </a:extLst>
          </p:cNvPr>
          <p:cNvPicPr>
            <a:picLocks noChangeAspect="1"/>
          </p:cNvPicPr>
          <p:nvPr/>
        </p:nvPicPr>
        <p:blipFill>
          <a:blip r:embed="rId6"/>
          <a:stretch>
            <a:fillRect/>
          </a:stretch>
        </p:blipFill>
        <p:spPr>
          <a:xfrm>
            <a:off x="12030995" y="5143500"/>
            <a:ext cx="5649113" cy="28654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55402" y="9022583"/>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07467" y="4764717"/>
            <a:ext cx="4845117" cy="3639464"/>
          </a:xfrm>
          <a:custGeom>
            <a:avLst/>
            <a:gdLst/>
            <a:ahLst/>
            <a:cxnLst/>
            <a:rect l="l" t="t" r="r" b="b"/>
            <a:pathLst>
              <a:path w="4845117" h="3639464">
                <a:moveTo>
                  <a:pt x="0" y="0"/>
                </a:moveTo>
                <a:lnTo>
                  <a:pt x="4845117" y="0"/>
                </a:lnTo>
                <a:lnTo>
                  <a:pt x="4845117" y="3639463"/>
                </a:lnTo>
                <a:lnTo>
                  <a:pt x="0" y="3639463"/>
                </a:lnTo>
                <a:lnTo>
                  <a:pt x="0" y="0"/>
                </a:lnTo>
                <a:close/>
              </a:path>
            </a:pathLst>
          </a:custGeom>
          <a:blipFill>
            <a:blip r:embed="rId4"/>
            <a:stretch>
              <a:fillRect r="-86020"/>
            </a:stretch>
          </a:blipFill>
        </p:spPr>
      </p:sp>
      <p:sp>
        <p:nvSpPr>
          <p:cNvPr id="4" name="Freeform 4"/>
          <p:cNvSpPr/>
          <p:nvPr/>
        </p:nvSpPr>
        <p:spPr>
          <a:xfrm>
            <a:off x="12452146" y="4764717"/>
            <a:ext cx="5615500" cy="2936298"/>
          </a:xfrm>
          <a:custGeom>
            <a:avLst/>
            <a:gdLst/>
            <a:ahLst/>
            <a:cxnLst/>
            <a:rect l="l" t="t" r="r" b="b"/>
            <a:pathLst>
              <a:path w="5615500" h="2936298">
                <a:moveTo>
                  <a:pt x="0" y="0"/>
                </a:moveTo>
                <a:lnTo>
                  <a:pt x="5615500" y="0"/>
                </a:lnTo>
                <a:lnTo>
                  <a:pt x="5615500" y="2936298"/>
                </a:lnTo>
                <a:lnTo>
                  <a:pt x="0" y="2936298"/>
                </a:lnTo>
                <a:lnTo>
                  <a:pt x="0" y="0"/>
                </a:lnTo>
                <a:close/>
              </a:path>
            </a:pathLst>
          </a:custGeom>
          <a:blipFill>
            <a:blip r:embed="rId5"/>
            <a:stretch>
              <a:fillRect l="-3626" r="-3626"/>
            </a:stretch>
          </a:blipFill>
        </p:spPr>
      </p:sp>
      <p:sp>
        <p:nvSpPr>
          <p:cNvPr id="5" name="Freeform 5"/>
          <p:cNvSpPr/>
          <p:nvPr/>
        </p:nvSpPr>
        <p:spPr>
          <a:xfrm>
            <a:off x="5478918" y="4880570"/>
            <a:ext cx="6517141" cy="3407758"/>
          </a:xfrm>
          <a:custGeom>
            <a:avLst/>
            <a:gdLst/>
            <a:ahLst/>
            <a:cxnLst/>
            <a:rect l="l" t="t" r="r" b="b"/>
            <a:pathLst>
              <a:path w="6517141" h="3407758">
                <a:moveTo>
                  <a:pt x="0" y="0"/>
                </a:moveTo>
                <a:lnTo>
                  <a:pt x="6517141" y="0"/>
                </a:lnTo>
                <a:lnTo>
                  <a:pt x="6517141" y="3407758"/>
                </a:lnTo>
                <a:lnTo>
                  <a:pt x="0" y="3407758"/>
                </a:lnTo>
                <a:lnTo>
                  <a:pt x="0" y="0"/>
                </a:lnTo>
                <a:close/>
              </a:path>
            </a:pathLst>
          </a:custGeom>
          <a:blipFill>
            <a:blip r:embed="rId6"/>
            <a:stretch>
              <a:fillRect/>
            </a:stretch>
          </a:blipFill>
        </p:spPr>
      </p:sp>
      <p:sp>
        <p:nvSpPr>
          <p:cNvPr id="6" name="TextBox 6"/>
          <p:cNvSpPr txBox="1"/>
          <p:nvPr/>
        </p:nvSpPr>
        <p:spPr>
          <a:xfrm>
            <a:off x="91380" y="136976"/>
            <a:ext cx="4961205" cy="1022892"/>
          </a:xfrm>
          <a:prstGeom prst="rect">
            <a:avLst/>
          </a:prstGeom>
        </p:spPr>
        <p:txBody>
          <a:bodyPr lIns="0" tIns="0" rIns="0" bIns="0" rtlCol="0" anchor="t">
            <a:spAutoFit/>
          </a:bodyPr>
          <a:lstStyle/>
          <a:p>
            <a:pPr algn="ctr">
              <a:lnSpc>
                <a:spcPts val="4130"/>
              </a:lnSpc>
            </a:pPr>
            <a:r>
              <a:rPr lang="en-US" sz="3304" b="1" spc="267">
                <a:solidFill>
                  <a:srgbClr val="000000"/>
                </a:solidFill>
                <a:latin typeface="TT Hoves Bold"/>
                <a:ea typeface="TT Hoves Bold"/>
                <a:cs typeface="TT Hoves Bold"/>
                <a:sym typeface="TT Hoves Bold"/>
              </a:rPr>
              <a:t>Avg interest rate </a:t>
            </a:r>
          </a:p>
          <a:p>
            <a:pPr algn="ctr">
              <a:lnSpc>
                <a:spcPts val="4130"/>
              </a:lnSpc>
              <a:spcBef>
                <a:spcPct val="0"/>
              </a:spcBef>
            </a:pPr>
            <a:endParaRPr lang="en-US" sz="3304" b="1" spc="267">
              <a:solidFill>
                <a:srgbClr val="000000"/>
              </a:solidFill>
              <a:latin typeface="TT Hoves Bold"/>
              <a:ea typeface="TT Hoves Bold"/>
              <a:cs typeface="TT Hoves Bold"/>
              <a:sym typeface="TT Hoves Bold"/>
            </a:endParaRPr>
          </a:p>
        </p:txBody>
      </p:sp>
      <p:sp>
        <p:nvSpPr>
          <p:cNvPr id="7" name="TextBox 7"/>
          <p:cNvSpPr txBox="1"/>
          <p:nvPr/>
        </p:nvSpPr>
        <p:spPr>
          <a:xfrm>
            <a:off x="0" y="1019175"/>
            <a:ext cx="5052584" cy="1959062"/>
          </a:xfrm>
          <a:prstGeom prst="rect">
            <a:avLst/>
          </a:prstGeom>
        </p:spPr>
        <p:txBody>
          <a:bodyPr lIns="0" tIns="0" rIns="0" bIns="0" rtlCol="0" anchor="t">
            <a:spAutoFit/>
          </a:bodyPr>
          <a:lstStyle/>
          <a:p>
            <a:pPr algn="ctr">
              <a:lnSpc>
                <a:spcPts val="3932"/>
              </a:lnSpc>
            </a:pPr>
            <a:r>
              <a:rPr lang="en-US" sz="2800" spc="254" dirty="0">
                <a:solidFill>
                  <a:srgbClr val="000000"/>
                </a:solidFill>
                <a:latin typeface="Arial" panose="020B0604020202020204" pitchFamily="34" charset="0"/>
                <a:ea typeface="TT Hoves"/>
                <a:cs typeface="Arial" panose="020B0604020202020204" pitchFamily="34" charset="0"/>
                <a:sym typeface="TT Hoves"/>
              </a:rPr>
              <a:t>select avg(</a:t>
            </a:r>
            <a:r>
              <a:rPr lang="en-US" sz="2800" spc="254" dirty="0" err="1">
                <a:solidFill>
                  <a:srgbClr val="000000"/>
                </a:solidFill>
                <a:latin typeface="Arial" panose="020B0604020202020204" pitchFamily="34" charset="0"/>
                <a:ea typeface="TT Hoves"/>
                <a:cs typeface="Arial" panose="020B0604020202020204" pitchFamily="34" charset="0"/>
                <a:sym typeface="TT Hoves"/>
              </a:rPr>
              <a:t>int_rate</a:t>
            </a:r>
            <a:r>
              <a:rPr lang="en-US" sz="2800" spc="254" dirty="0">
                <a:solidFill>
                  <a:srgbClr val="000000"/>
                </a:solidFill>
                <a:latin typeface="Arial" panose="020B0604020202020204" pitchFamily="34" charset="0"/>
                <a:ea typeface="TT Hoves"/>
                <a:cs typeface="Arial" panose="020B0604020202020204" pitchFamily="34" charset="0"/>
                <a:sym typeface="TT Hoves"/>
              </a:rPr>
              <a:t>)*100 </a:t>
            </a:r>
          </a:p>
          <a:p>
            <a:pPr algn="ctr">
              <a:lnSpc>
                <a:spcPts val="3932"/>
              </a:lnSpc>
            </a:pPr>
            <a:r>
              <a:rPr lang="en-US" sz="2800" spc="254" dirty="0">
                <a:solidFill>
                  <a:srgbClr val="000000"/>
                </a:solidFill>
                <a:latin typeface="Arial" panose="020B0604020202020204" pitchFamily="34" charset="0"/>
                <a:ea typeface="TT Hoves"/>
                <a:cs typeface="Arial" panose="020B0604020202020204" pitchFamily="34" charset="0"/>
                <a:sym typeface="TT Hoves"/>
              </a:rPr>
              <a:t>As </a:t>
            </a:r>
            <a:r>
              <a:rPr lang="en-US" sz="2800" spc="254" dirty="0" err="1">
                <a:solidFill>
                  <a:srgbClr val="000000"/>
                </a:solidFill>
                <a:latin typeface="Arial" panose="020B0604020202020204" pitchFamily="34" charset="0"/>
                <a:ea typeface="TT Hoves"/>
                <a:cs typeface="Arial" panose="020B0604020202020204" pitchFamily="34" charset="0"/>
                <a:sym typeface="TT Hoves"/>
              </a:rPr>
              <a:t>avg_interest_rate</a:t>
            </a:r>
            <a:r>
              <a:rPr lang="en-US" sz="2800" spc="254" dirty="0">
                <a:solidFill>
                  <a:srgbClr val="000000"/>
                </a:solidFill>
                <a:latin typeface="Arial" panose="020B0604020202020204" pitchFamily="34" charset="0"/>
                <a:ea typeface="TT Hoves"/>
                <a:cs typeface="Arial" panose="020B0604020202020204" pitchFamily="34" charset="0"/>
                <a:sym typeface="TT Hoves"/>
              </a:rPr>
              <a:t> </a:t>
            </a:r>
          </a:p>
          <a:p>
            <a:pPr algn="ctr">
              <a:lnSpc>
                <a:spcPts val="3932"/>
              </a:lnSpc>
            </a:pPr>
            <a:r>
              <a:rPr lang="en-US" sz="2800" spc="254" dirty="0">
                <a:solidFill>
                  <a:srgbClr val="000000"/>
                </a:solidFill>
                <a:latin typeface="Arial" panose="020B0604020202020204" pitchFamily="34" charset="0"/>
                <a:ea typeface="TT Hoves"/>
                <a:cs typeface="Arial" panose="020B0604020202020204" pitchFamily="34" charset="0"/>
                <a:sym typeface="TT Hoves"/>
              </a:rPr>
              <a:t>from </a:t>
            </a:r>
            <a:r>
              <a:rPr lang="en-US" sz="2800" spc="254" dirty="0" err="1">
                <a:solidFill>
                  <a:srgbClr val="000000"/>
                </a:solidFill>
                <a:latin typeface="Arial" panose="020B0604020202020204" pitchFamily="34" charset="0"/>
                <a:ea typeface="TT Hoves"/>
                <a:cs typeface="Arial" panose="020B0604020202020204" pitchFamily="34" charset="0"/>
                <a:sym typeface="TT Hoves"/>
              </a:rPr>
              <a:t>financial_loan</a:t>
            </a:r>
            <a:r>
              <a:rPr lang="en-US" sz="2800" spc="254" dirty="0">
                <a:solidFill>
                  <a:srgbClr val="000000"/>
                </a:solidFill>
                <a:latin typeface="Arial" panose="020B0604020202020204" pitchFamily="34" charset="0"/>
                <a:ea typeface="TT Hoves"/>
                <a:cs typeface="Arial" panose="020B0604020202020204" pitchFamily="34" charset="0"/>
                <a:sym typeface="TT Hoves"/>
              </a:rPr>
              <a:t>;</a:t>
            </a:r>
          </a:p>
          <a:p>
            <a:pPr algn="ctr">
              <a:lnSpc>
                <a:spcPts val="3932"/>
              </a:lnSpc>
              <a:spcBef>
                <a:spcPct val="0"/>
              </a:spcBef>
            </a:pPr>
            <a:endParaRPr lang="en-US" sz="3146" spc="254" dirty="0">
              <a:solidFill>
                <a:srgbClr val="000000"/>
              </a:solidFill>
              <a:latin typeface="TT Hoves"/>
              <a:ea typeface="TT Hoves"/>
              <a:cs typeface="TT Hoves"/>
              <a:sym typeface="TT Hoves"/>
            </a:endParaRPr>
          </a:p>
        </p:txBody>
      </p:sp>
      <p:sp>
        <p:nvSpPr>
          <p:cNvPr id="8" name="TextBox 8"/>
          <p:cNvSpPr txBox="1"/>
          <p:nvPr/>
        </p:nvSpPr>
        <p:spPr>
          <a:xfrm>
            <a:off x="5805534" y="136976"/>
            <a:ext cx="4966196" cy="485009"/>
          </a:xfrm>
          <a:prstGeom prst="rect">
            <a:avLst/>
          </a:prstGeom>
        </p:spPr>
        <p:txBody>
          <a:bodyPr lIns="0" tIns="0" rIns="0" bIns="0" rtlCol="0" anchor="t">
            <a:spAutoFit/>
          </a:bodyPr>
          <a:lstStyle/>
          <a:p>
            <a:pPr algn="ctr">
              <a:lnSpc>
                <a:spcPts val="3900"/>
              </a:lnSpc>
              <a:spcBef>
                <a:spcPct val="0"/>
              </a:spcBef>
            </a:pPr>
            <a:r>
              <a:rPr lang="en-US" sz="3120" b="1" spc="252">
                <a:solidFill>
                  <a:srgbClr val="000000"/>
                </a:solidFill>
                <a:latin typeface="TT Hoves Bold"/>
                <a:ea typeface="TT Hoves Bold"/>
                <a:cs typeface="TT Hoves Bold"/>
                <a:sym typeface="TT Hoves Bold"/>
              </a:rPr>
              <a:t>MTD Avg Interest Rate</a:t>
            </a:r>
          </a:p>
        </p:txBody>
      </p:sp>
      <p:sp>
        <p:nvSpPr>
          <p:cNvPr id="9" name="TextBox 9"/>
          <p:cNvSpPr txBox="1"/>
          <p:nvPr/>
        </p:nvSpPr>
        <p:spPr>
          <a:xfrm>
            <a:off x="4949822" y="1019175"/>
            <a:ext cx="6677620" cy="3363228"/>
          </a:xfrm>
          <a:prstGeom prst="rect">
            <a:avLst/>
          </a:prstGeom>
        </p:spPr>
        <p:txBody>
          <a:bodyPr lIns="0" tIns="0" rIns="0" bIns="0" rtlCol="0" anchor="t">
            <a:spAutoFit/>
          </a:bodyPr>
          <a:lstStyle/>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select round(avg(</a:t>
            </a:r>
            <a:r>
              <a:rPr lang="en-US" sz="2628" spc="212" dirty="0" err="1">
                <a:solidFill>
                  <a:srgbClr val="000000"/>
                </a:solidFill>
                <a:latin typeface="Arial" panose="020B0604020202020204" pitchFamily="34" charset="0"/>
                <a:ea typeface="TT Hoves"/>
                <a:cs typeface="Arial" panose="020B0604020202020204" pitchFamily="34" charset="0"/>
                <a:sym typeface="TT Hoves"/>
              </a:rPr>
              <a:t>int_rate</a:t>
            </a:r>
            <a:r>
              <a:rPr lang="en-US" sz="2628" spc="212" dirty="0">
                <a:solidFill>
                  <a:srgbClr val="000000"/>
                </a:solidFill>
                <a:latin typeface="Arial" panose="020B0604020202020204" pitchFamily="34" charset="0"/>
                <a:ea typeface="TT Hoves"/>
                <a:cs typeface="Arial" panose="020B0604020202020204" pitchFamily="34" charset="0"/>
                <a:sym typeface="TT Hoves"/>
              </a:rPr>
              <a:t>), 4)*100</a:t>
            </a:r>
          </a:p>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 As </a:t>
            </a:r>
            <a:r>
              <a:rPr lang="en-US" sz="2628" spc="212" dirty="0" err="1">
                <a:solidFill>
                  <a:srgbClr val="000000"/>
                </a:solidFill>
                <a:latin typeface="Arial" panose="020B0604020202020204" pitchFamily="34" charset="0"/>
                <a:ea typeface="TT Hoves"/>
                <a:cs typeface="Arial" panose="020B0604020202020204" pitchFamily="34" charset="0"/>
                <a:sym typeface="TT Hoves"/>
              </a:rPr>
              <a:t>mtd_avg_interest_rate</a:t>
            </a:r>
            <a:endParaRPr lang="en-US" sz="2628" spc="212"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 from </a:t>
            </a:r>
            <a:r>
              <a:rPr lang="en-US" sz="2628" spc="212"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628" spc="212"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where </a:t>
            </a:r>
            <a:r>
              <a:rPr lang="en-US" sz="2628" spc="212" dirty="0" err="1">
                <a:solidFill>
                  <a:srgbClr val="000000"/>
                </a:solidFill>
                <a:latin typeface="Arial" panose="020B0604020202020204" pitchFamily="34" charset="0"/>
                <a:ea typeface="TT Hoves"/>
                <a:cs typeface="Arial" panose="020B0604020202020204" pitchFamily="34" charset="0"/>
                <a:sym typeface="TT Hoves"/>
              </a:rPr>
              <a:t>str_to_date</a:t>
            </a:r>
            <a:endParaRPr lang="en-US" sz="2628" spc="212"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a:t>
            </a:r>
            <a:r>
              <a:rPr lang="en-US" sz="2628" spc="212" dirty="0" err="1">
                <a:solidFill>
                  <a:srgbClr val="000000"/>
                </a:solidFill>
                <a:latin typeface="Arial" panose="020B0604020202020204" pitchFamily="34" charset="0"/>
                <a:ea typeface="TT Hoves"/>
                <a:cs typeface="Arial" panose="020B0604020202020204" pitchFamily="34" charset="0"/>
                <a:sym typeface="TT Hoves"/>
              </a:rPr>
              <a:t>issue_date</a:t>
            </a:r>
            <a:r>
              <a:rPr lang="en-US" sz="2628" spc="212" dirty="0">
                <a:solidFill>
                  <a:srgbClr val="000000"/>
                </a:solidFill>
                <a:latin typeface="Arial" panose="020B0604020202020204" pitchFamily="34" charset="0"/>
                <a:ea typeface="TT Hoves"/>
                <a:cs typeface="Arial" panose="020B0604020202020204" pitchFamily="34" charset="0"/>
                <a:sym typeface="TT Hoves"/>
              </a:rPr>
              <a:t> ,' %d-%m-%Y')</a:t>
            </a:r>
          </a:p>
          <a:p>
            <a:pPr algn="ctr">
              <a:lnSpc>
                <a:spcPts val="3285"/>
              </a:lnSpc>
              <a:spcBef>
                <a:spcPct val="0"/>
              </a:spcBef>
            </a:pPr>
            <a:r>
              <a:rPr lang="en-US" sz="2628" spc="212" dirty="0">
                <a:solidFill>
                  <a:srgbClr val="000000"/>
                </a:solidFill>
                <a:latin typeface="Arial" panose="020B0604020202020204" pitchFamily="34" charset="0"/>
                <a:ea typeface="TT Hoves"/>
                <a:cs typeface="Arial" panose="020B0604020202020204" pitchFamily="34" charset="0"/>
                <a:sym typeface="TT Hoves"/>
              </a:rPr>
              <a:t> between '2021-01-01' and '2021-12-31</a:t>
            </a:r>
            <a:r>
              <a:rPr lang="en-US" sz="2628" b="1" spc="212" dirty="0">
                <a:solidFill>
                  <a:srgbClr val="000000"/>
                </a:solidFill>
                <a:latin typeface="TT Hoves Bold"/>
                <a:ea typeface="TT Hoves Bold"/>
                <a:cs typeface="TT Hoves Bold"/>
                <a:sym typeface="TT Hoves Bold"/>
              </a:rPr>
              <a:t>';</a:t>
            </a:r>
          </a:p>
          <a:p>
            <a:pPr algn="ctr">
              <a:lnSpc>
                <a:spcPts val="3285"/>
              </a:lnSpc>
              <a:spcBef>
                <a:spcPct val="0"/>
              </a:spcBef>
            </a:pPr>
            <a:endParaRPr lang="en-US" sz="2628" b="1" spc="212" dirty="0">
              <a:solidFill>
                <a:srgbClr val="000000"/>
              </a:solidFill>
              <a:latin typeface="TT Hoves Bold"/>
              <a:ea typeface="TT Hoves Bold"/>
              <a:cs typeface="TT Hoves Bold"/>
              <a:sym typeface="TT Hoves Bold"/>
            </a:endParaRPr>
          </a:p>
        </p:txBody>
      </p:sp>
      <p:sp>
        <p:nvSpPr>
          <p:cNvPr id="10" name="TextBox 10"/>
          <p:cNvSpPr txBox="1"/>
          <p:nvPr/>
        </p:nvSpPr>
        <p:spPr>
          <a:xfrm>
            <a:off x="11996059" y="190823"/>
            <a:ext cx="5083431" cy="1435842"/>
          </a:xfrm>
          <a:prstGeom prst="rect">
            <a:avLst/>
          </a:prstGeom>
        </p:spPr>
        <p:txBody>
          <a:bodyPr lIns="0" tIns="0" rIns="0" bIns="0" rtlCol="0" anchor="t">
            <a:spAutoFit/>
          </a:bodyPr>
          <a:lstStyle/>
          <a:p>
            <a:pPr algn="ctr">
              <a:lnSpc>
                <a:spcPts val="3770"/>
              </a:lnSpc>
              <a:spcBef>
                <a:spcPct val="0"/>
              </a:spcBef>
            </a:pPr>
            <a:r>
              <a:rPr lang="en-US" sz="3016" b="1" spc="244" dirty="0">
                <a:solidFill>
                  <a:srgbClr val="000000"/>
                </a:solidFill>
                <a:latin typeface="TT Hoves Bold"/>
                <a:ea typeface="TT Hoves Bold"/>
                <a:cs typeface="TT Hoves Bold"/>
                <a:sym typeface="TT Hoves Bold"/>
              </a:rPr>
              <a:t>PMTD Avg Interest Rate</a:t>
            </a:r>
          </a:p>
          <a:p>
            <a:pPr algn="ctr">
              <a:lnSpc>
                <a:spcPts val="3770"/>
              </a:lnSpc>
              <a:spcBef>
                <a:spcPct val="0"/>
              </a:spcBef>
            </a:pPr>
            <a:endParaRPr lang="en-US" sz="3016" b="1" spc="244" dirty="0">
              <a:solidFill>
                <a:srgbClr val="000000"/>
              </a:solidFill>
              <a:latin typeface="TT Hoves Bold"/>
              <a:ea typeface="TT Hoves Bold"/>
              <a:cs typeface="TT Hoves Bold"/>
              <a:sym typeface="TT Hoves Bold"/>
            </a:endParaRPr>
          </a:p>
        </p:txBody>
      </p:sp>
      <p:sp>
        <p:nvSpPr>
          <p:cNvPr id="11" name="TextBox 11"/>
          <p:cNvSpPr txBox="1"/>
          <p:nvPr/>
        </p:nvSpPr>
        <p:spPr>
          <a:xfrm>
            <a:off x="11996059" y="1019175"/>
            <a:ext cx="6071587" cy="3575722"/>
          </a:xfrm>
          <a:prstGeom prst="rect">
            <a:avLst/>
          </a:prstGeom>
        </p:spPr>
        <p:txBody>
          <a:bodyPr lIns="0" tIns="0" rIns="0" bIns="0" rtlCol="0" anchor="t">
            <a:spAutoFit/>
          </a:bodyPr>
          <a:lstStyle/>
          <a:p>
            <a:pPr algn="ctr">
              <a:lnSpc>
                <a:spcPts val="3070"/>
              </a:lnSpc>
              <a:spcBef>
                <a:spcPct val="0"/>
              </a:spcBef>
            </a:pPr>
            <a:r>
              <a:rPr lang="en-US" sz="2456" spc="198" dirty="0">
                <a:solidFill>
                  <a:srgbClr val="000000"/>
                </a:solidFill>
                <a:latin typeface="TT Hoves"/>
                <a:ea typeface="TT Hoves"/>
                <a:cs typeface="TT Hoves"/>
                <a:sym typeface="TT Hoves"/>
              </a:rPr>
              <a:t> </a:t>
            </a:r>
            <a:r>
              <a:rPr lang="en-US" sz="2800" spc="198" dirty="0">
                <a:solidFill>
                  <a:srgbClr val="000000"/>
                </a:solidFill>
                <a:latin typeface="Arial" panose="020B0604020202020204" pitchFamily="34" charset="0"/>
                <a:ea typeface="TT Hoves"/>
                <a:cs typeface="Arial" panose="020B0604020202020204" pitchFamily="34" charset="0"/>
                <a:sym typeface="TT Hoves"/>
              </a:rPr>
              <a:t>select round(avg(</a:t>
            </a:r>
            <a:r>
              <a:rPr lang="en-US" sz="2800" spc="198" dirty="0" err="1">
                <a:solidFill>
                  <a:srgbClr val="000000"/>
                </a:solidFill>
                <a:latin typeface="Arial" panose="020B0604020202020204" pitchFamily="34" charset="0"/>
                <a:ea typeface="TT Hoves"/>
                <a:cs typeface="Arial" panose="020B0604020202020204" pitchFamily="34" charset="0"/>
                <a:sym typeface="TT Hoves"/>
              </a:rPr>
              <a:t>int_rate</a:t>
            </a:r>
            <a:r>
              <a:rPr lang="en-US" sz="2800" spc="198" dirty="0">
                <a:solidFill>
                  <a:srgbClr val="000000"/>
                </a:solidFill>
                <a:latin typeface="Arial" panose="020B0604020202020204" pitchFamily="34" charset="0"/>
                <a:ea typeface="TT Hoves"/>
                <a:cs typeface="Arial" panose="020B0604020202020204" pitchFamily="34" charset="0"/>
                <a:sym typeface="TT Hoves"/>
              </a:rPr>
              <a:t>), 4)*100</a:t>
            </a:r>
          </a:p>
          <a:p>
            <a:pPr algn="ctr">
              <a:lnSpc>
                <a:spcPts val="3070"/>
              </a:lnSpc>
              <a:spcBef>
                <a:spcPct val="0"/>
              </a:spcBef>
            </a:pPr>
            <a:r>
              <a:rPr lang="en-US" sz="2800" spc="198" dirty="0">
                <a:solidFill>
                  <a:srgbClr val="000000"/>
                </a:solidFill>
                <a:latin typeface="Arial" panose="020B0604020202020204" pitchFamily="34" charset="0"/>
                <a:ea typeface="TT Hoves"/>
                <a:cs typeface="Arial" panose="020B0604020202020204" pitchFamily="34" charset="0"/>
                <a:sym typeface="TT Hoves"/>
              </a:rPr>
              <a:t> As </a:t>
            </a:r>
            <a:r>
              <a:rPr lang="en-US" sz="2800" spc="198" dirty="0" err="1">
                <a:solidFill>
                  <a:srgbClr val="000000"/>
                </a:solidFill>
                <a:latin typeface="Arial" panose="020B0604020202020204" pitchFamily="34" charset="0"/>
                <a:ea typeface="TT Hoves"/>
                <a:cs typeface="Arial" panose="020B0604020202020204" pitchFamily="34" charset="0"/>
                <a:sym typeface="TT Hoves"/>
              </a:rPr>
              <a:t>pmtd_avg_interest_rate</a:t>
            </a:r>
            <a:endParaRPr lang="en-US" sz="2800" spc="198"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070"/>
              </a:lnSpc>
              <a:spcBef>
                <a:spcPct val="0"/>
              </a:spcBef>
            </a:pPr>
            <a:r>
              <a:rPr lang="en-US" sz="2800" spc="198" dirty="0">
                <a:solidFill>
                  <a:srgbClr val="000000"/>
                </a:solidFill>
                <a:latin typeface="Arial" panose="020B0604020202020204" pitchFamily="34" charset="0"/>
                <a:ea typeface="TT Hoves"/>
                <a:cs typeface="Arial" panose="020B0604020202020204" pitchFamily="34" charset="0"/>
                <a:sym typeface="TT Hoves"/>
              </a:rPr>
              <a:t> from </a:t>
            </a:r>
            <a:r>
              <a:rPr lang="en-US" sz="2800" spc="198"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800" spc="198"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070"/>
              </a:lnSpc>
              <a:spcBef>
                <a:spcPct val="0"/>
              </a:spcBef>
            </a:pPr>
            <a:r>
              <a:rPr lang="en-US" sz="2800" spc="198" dirty="0">
                <a:solidFill>
                  <a:srgbClr val="000000"/>
                </a:solidFill>
                <a:latin typeface="Arial" panose="020B0604020202020204" pitchFamily="34" charset="0"/>
                <a:ea typeface="TT Hoves"/>
                <a:cs typeface="Arial" panose="020B0604020202020204" pitchFamily="34" charset="0"/>
                <a:sym typeface="TT Hoves"/>
              </a:rPr>
              <a:t>where </a:t>
            </a:r>
            <a:r>
              <a:rPr lang="en-US" sz="2800" spc="198" dirty="0" err="1">
                <a:solidFill>
                  <a:srgbClr val="000000"/>
                </a:solidFill>
                <a:latin typeface="Arial" panose="020B0604020202020204" pitchFamily="34" charset="0"/>
                <a:ea typeface="TT Hoves"/>
                <a:cs typeface="Arial" panose="020B0604020202020204" pitchFamily="34" charset="0"/>
                <a:sym typeface="TT Hoves"/>
              </a:rPr>
              <a:t>str_to_date</a:t>
            </a:r>
            <a:endParaRPr lang="en-US" sz="2800" spc="198"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070"/>
              </a:lnSpc>
              <a:spcBef>
                <a:spcPct val="0"/>
              </a:spcBef>
            </a:pPr>
            <a:r>
              <a:rPr lang="en-US" sz="2800" spc="198" dirty="0">
                <a:solidFill>
                  <a:srgbClr val="000000"/>
                </a:solidFill>
                <a:latin typeface="Arial" panose="020B0604020202020204" pitchFamily="34" charset="0"/>
                <a:ea typeface="TT Hoves"/>
                <a:cs typeface="Arial" panose="020B0604020202020204" pitchFamily="34" charset="0"/>
                <a:sym typeface="TT Hoves"/>
              </a:rPr>
              <a:t>(</a:t>
            </a:r>
            <a:r>
              <a:rPr lang="en-US" sz="2800" spc="198" dirty="0" err="1">
                <a:solidFill>
                  <a:srgbClr val="000000"/>
                </a:solidFill>
                <a:latin typeface="Arial" panose="020B0604020202020204" pitchFamily="34" charset="0"/>
                <a:ea typeface="TT Hoves"/>
                <a:cs typeface="Arial" panose="020B0604020202020204" pitchFamily="34" charset="0"/>
                <a:sym typeface="TT Hoves"/>
              </a:rPr>
              <a:t>issue_date</a:t>
            </a:r>
            <a:r>
              <a:rPr lang="en-US" sz="2800" spc="198" dirty="0">
                <a:solidFill>
                  <a:srgbClr val="000000"/>
                </a:solidFill>
                <a:latin typeface="Arial" panose="020B0604020202020204" pitchFamily="34" charset="0"/>
                <a:ea typeface="TT Hoves"/>
                <a:cs typeface="Arial" panose="020B0604020202020204" pitchFamily="34" charset="0"/>
                <a:sym typeface="TT Hoves"/>
              </a:rPr>
              <a:t> ,' %d-%m-%Y') </a:t>
            </a:r>
          </a:p>
          <a:p>
            <a:pPr algn="ctr">
              <a:lnSpc>
                <a:spcPts val="3070"/>
              </a:lnSpc>
              <a:spcBef>
                <a:spcPct val="0"/>
              </a:spcBef>
            </a:pPr>
            <a:r>
              <a:rPr lang="en-US" sz="2800" spc="198" dirty="0">
                <a:solidFill>
                  <a:srgbClr val="000000"/>
                </a:solidFill>
                <a:latin typeface="Arial" panose="020B0604020202020204" pitchFamily="34" charset="0"/>
                <a:ea typeface="TT Hoves"/>
                <a:cs typeface="Arial" panose="020B0604020202020204" pitchFamily="34" charset="0"/>
                <a:sym typeface="TT Hoves"/>
              </a:rPr>
              <a:t>between '2021-11-01' and '2021-11-30';</a:t>
            </a:r>
          </a:p>
          <a:p>
            <a:pPr algn="ctr">
              <a:lnSpc>
                <a:spcPts val="3269"/>
              </a:lnSpc>
              <a:spcBef>
                <a:spcPct val="0"/>
              </a:spcBef>
            </a:pPr>
            <a:endParaRPr lang="en-US" sz="2456" spc="198" dirty="0">
              <a:solidFill>
                <a:srgbClr val="000000"/>
              </a:solidFill>
              <a:latin typeface="TT Hoves"/>
              <a:ea typeface="TT Hoves"/>
              <a:cs typeface="TT Hoves"/>
              <a:sym typeface="TT Hove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918" y="5643885"/>
            <a:ext cx="4730270" cy="4394099"/>
          </a:xfrm>
          <a:custGeom>
            <a:avLst/>
            <a:gdLst/>
            <a:ahLst/>
            <a:cxnLst/>
            <a:rect l="l" t="t" r="r" b="b"/>
            <a:pathLst>
              <a:path w="4730270" h="4394099">
                <a:moveTo>
                  <a:pt x="0" y="0"/>
                </a:moveTo>
                <a:lnTo>
                  <a:pt x="4730270" y="0"/>
                </a:lnTo>
                <a:lnTo>
                  <a:pt x="4730270" y="4394099"/>
                </a:lnTo>
                <a:lnTo>
                  <a:pt x="0" y="4394099"/>
                </a:lnTo>
                <a:lnTo>
                  <a:pt x="0" y="0"/>
                </a:lnTo>
                <a:close/>
              </a:path>
            </a:pathLst>
          </a:custGeom>
          <a:blipFill>
            <a:blip r:embed="rId3"/>
            <a:stretch>
              <a:fillRect l="-16548" r="-87545" b="-20274"/>
            </a:stretch>
          </a:blipFill>
        </p:spPr>
      </p:sp>
      <p:sp>
        <p:nvSpPr>
          <p:cNvPr id="3" name="Freeform 3"/>
          <p:cNvSpPr/>
          <p:nvPr/>
        </p:nvSpPr>
        <p:spPr>
          <a:xfrm>
            <a:off x="5206182" y="5685857"/>
            <a:ext cx="5384798" cy="4247235"/>
          </a:xfrm>
          <a:custGeom>
            <a:avLst/>
            <a:gdLst/>
            <a:ahLst/>
            <a:cxnLst/>
            <a:rect l="l" t="t" r="r" b="b"/>
            <a:pathLst>
              <a:path w="5384798" h="4247235">
                <a:moveTo>
                  <a:pt x="0" y="0"/>
                </a:moveTo>
                <a:lnTo>
                  <a:pt x="5384798" y="0"/>
                </a:lnTo>
                <a:lnTo>
                  <a:pt x="5384798" y="4247235"/>
                </a:lnTo>
                <a:lnTo>
                  <a:pt x="0" y="4247235"/>
                </a:lnTo>
                <a:lnTo>
                  <a:pt x="0" y="0"/>
                </a:lnTo>
                <a:close/>
              </a:path>
            </a:pathLst>
          </a:custGeom>
          <a:blipFill>
            <a:blip r:embed="rId4"/>
            <a:stretch>
              <a:fillRect r="-84609"/>
            </a:stretch>
          </a:blipFill>
        </p:spPr>
      </p:sp>
      <p:sp>
        <p:nvSpPr>
          <p:cNvPr id="4" name="Freeform 4"/>
          <p:cNvSpPr/>
          <p:nvPr/>
        </p:nvSpPr>
        <p:spPr>
          <a:xfrm>
            <a:off x="11273207" y="5685857"/>
            <a:ext cx="6709875" cy="3968717"/>
          </a:xfrm>
          <a:custGeom>
            <a:avLst/>
            <a:gdLst/>
            <a:ahLst/>
            <a:cxnLst/>
            <a:rect l="l" t="t" r="r" b="b"/>
            <a:pathLst>
              <a:path w="6709875" h="3968717">
                <a:moveTo>
                  <a:pt x="0" y="0"/>
                </a:moveTo>
                <a:lnTo>
                  <a:pt x="6709875" y="0"/>
                </a:lnTo>
                <a:lnTo>
                  <a:pt x="6709875" y="3968717"/>
                </a:lnTo>
                <a:lnTo>
                  <a:pt x="0" y="3968717"/>
                </a:lnTo>
                <a:lnTo>
                  <a:pt x="0" y="0"/>
                </a:lnTo>
                <a:close/>
              </a:path>
            </a:pathLst>
          </a:custGeom>
          <a:blipFill>
            <a:blip r:embed="rId5"/>
            <a:stretch>
              <a:fillRect t="-13999" r="-53390" b="-31469"/>
            </a:stretch>
          </a:blipFill>
        </p:spPr>
      </p:sp>
      <p:sp>
        <p:nvSpPr>
          <p:cNvPr id="5" name="TextBox 5"/>
          <p:cNvSpPr txBox="1"/>
          <p:nvPr/>
        </p:nvSpPr>
        <p:spPr>
          <a:xfrm>
            <a:off x="479843" y="243573"/>
            <a:ext cx="2472780" cy="512529"/>
          </a:xfrm>
          <a:prstGeom prst="rect">
            <a:avLst/>
          </a:prstGeom>
        </p:spPr>
        <p:txBody>
          <a:bodyPr lIns="0" tIns="0" rIns="0" bIns="0" rtlCol="0" anchor="t">
            <a:spAutoFit/>
          </a:bodyPr>
          <a:lstStyle/>
          <a:p>
            <a:pPr algn="ctr">
              <a:lnSpc>
                <a:spcPts val="4108"/>
              </a:lnSpc>
              <a:spcBef>
                <a:spcPct val="0"/>
              </a:spcBef>
            </a:pPr>
            <a:r>
              <a:rPr lang="en-US" sz="3286" b="1" spc="266">
                <a:solidFill>
                  <a:srgbClr val="000000"/>
                </a:solidFill>
                <a:latin typeface="TT Hoves Bold"/>
                <a:ea typeface="TT Hoves Bold"/>
                <a:cs typeface="TT Hoves Bold"/>
                <a:sym typeface="TT Hoves Bold"/>
              </a:rPr>
              <a:t>AVG DTI</a:t>
            </a:r>
          </a:p>
        </p:txBody>
      </p:sp>
      <p:sp>
        <p:nvSpPr>
          <p:cNvPr id="6" name="TextBox 6"/>
          <p:cNvSpPr txBox="1"/>
          <p:nvPr/>
        </p:nvSpPr>
        <p:spPr>
          <a:xfrm>
            <a:off x="5777705" y="243573"/>
            <a:ext cx="3051572" cy="512529"/>
          </a:xfrm>
          <a:prstGeom prst="rect">
            <a:avLst/>
          </a:prstGeom>
        </p:spPr>
        <p:txBody>
          <a:bodyPr lIns="0" tIns="0" rIns="0" bIns="0" rtlCol="0" anchor="t">
            <a:spAutoFit/>
          </a:bodyPr>
          <a:lstStyle/>
          <a:p>
            <a:pPr algn="ctr">
              <a:lnSpc>
                <a:spcPts val="4108"/>
              </a:lnSpc>
              <a:spcBef>
                <a:spcPct val="0"/>
              </a:spcBef>
            </a:pPr>
            <a:r>
              <a:rPr lang="en-US" sz="3286" b="1" spc="266">
                <a:solidFill>
                  <a:srgbClr val="000000"/>
                </a:solidFill>
                <a:latin typeface="TT Hoves Bold"/>
                <a:ea typeface="TT Hoves Bold"/>
                <a:cs typeface="TT Hoves Bold"/>
                <a:sym typeface="TT Hoves Bold"/>
              </a:rPr>
              <a:t>MTD AVG DTI</a:t>
            </a:r>
          </a:p>
        </p:txBody>
      </p:sp>
      <p:sp>
        <p:nvSpPr>
          <p:cNvPr id="7" name="TextBox 7"/>
          <p:cNvSpPr txBox="1"/>
          <p:nvPr/>
        </p:nvSpPr>
        <p:spPr>
          <a:xfrm>
            <a:off x="12240669" y="243573"/>
            <a:ext cx="3666530" cy="512529"/>
          </a:xfrm>
          <a:prstGeom prst="rect">
            <a:avLst/>
          </a:prstGeom>
        </p:spPr>
        <p:txBody>
          <a:bodyPr lIns="0" tIns="0" rIns="0" bIns="0" rtlCol="0" anchor="t">
            <a:spAutoFit/>
          </a:bodyPr>
          <a:lstStyle/>
          <a:p>
            <a:pPr algn="ctr">
              <a:lnSpc>
                <a:spcPts val="4108"/>
              </a:lnSpc>
              <a:spcBef>
                <a:spcPct val="0"/>
              </a:spcBef>
            </a:pPr>
            <a:r>
              <a:rPr lang="en-US" sz="3286" b="1" spc="266" dirty="0">
                <a:solidFill>
                  <a:srgbClr val="000000"/>
                </a:solidFill>
                <a:latin typeface="TT Hoves Bold"/>
                <a:ea typeface="TT Hoves Bold"/>
                <a:cs typeface="TT Hoves Bold"/>
                <a:sym typeface="TT Hoves Bold"/>
              </a:rPr>
              <a:t>PMTD  AVG DTI</a:t>
            </a:r>
          </a:p>
        </p:txBody>
      </p:sp>
      <p:sp>
        <p:nvSpPr>
          <p:cNvPr id="8" name="TextBox 8"/>
          <p:cNvSpPr txBox="1"/>
          <p:nvPr/>
        </p:nvSpPr>
        <p:spPr>
          <a:xfrm>
            <a:off x="-5431" y="1703475"/>
            <a:ext cx="5350967" cy="2220801"/>
          </a:xfrm>
          <a:prstGeom prst="rect">
            <a:avLst/>
          </a:prstGeom>
        </p:spPr>
        <p:txBody>
          <a:bodyPr lIns="0" tIns="0" rIns="0" bIns="0" rtlCol="0" anchor="t">
            <a:spAutoFit/>
          </a:bodyPr>
          <a:lstStyle/>
          <a:p>
            <a:pPr algn="ctr">
              <a:lnSpc>
                <a:spcPts val="3495"/>
              </a:lnSpc>
              <a:spcBef>
                <a:spcPct val="0"/>
              </a:spcBef>
            </a:pPr>
            <a:r>
              <a:rPr lang="en-US" sz="2796" spc="226" dirty="0">
                <a:solidFill>
                  <a:srgbClr val="000000"/>
                </a:solidFill>
                <a:latin typeface="Arial" panose="020B0604020202020204" pitchFamily="34" charset="0"/>
                <a:ea typeface="TT Hoves"/>
                <a:cs typeface="Arial" panose="020B0604020202020204" pitchFamily="34" charset="0"/>
                <a:sym typeface="TT Hoves"/>
              </a:rPr>
              <a:t>select round(avg(</a:t>
            </a:r>
            <a:r>
              <a:rPr lang="en-US" sz="2796" spc="226" dirty="0" err="1">
                <a:solidFill>
                  <a:srgbClr val="000000"/>
                </a:solidFill>
                <a:latin typeface="Arial" panose="020B0604020202020204" pitchFamily="34" charset="0"/>
                <a:ea typeface="TT Hoves"/>
                <a:cs typeface="Arial" panose="020B0604020202020204" pitchFamily="34" charset="0"/>
                <a:sym typeface="TT Hoves"/>
              </a:rPr>
              <a:t>dti</a:t>
            </a:r>
            <a:r>
              <a:rPr lang="en-US" sz="2796" spc="226" dirty="0">
                <a:solidFill>
                  <a:srgbClr val="000000"/>
                </a:solidFill>
                <a:latin typeface="Arial" panose="020B0604020202020204" pitchFamily="34" charset="0"/>
                <a:ea typeface="TT Hoves"/>
                <a:cs typeface="Arial" panose="020B0604020202020204" pitchFamily="34" charset="0"/>
                <a:sym typeface="TT Hoves"/>
              </a:rPr>
              <a:t>) , 4)*100 </a:t>
            </a:r>
          </a:p>
          <a:p>
            <a:pPr algn="ctr">
              <a:lnSpc>
                <a:spcPts val="3495"/>
              </a:lnSpc>
              <a:spcBef>
                <a:spcPct val="0"/>
              </a:spcBef>
            </a:pPr>
            <a:r>
              <a:rPr lang="en-US" sz="2796" spc="226" dirty="0">
                <a:solidFill>
                  <a:srgbClr val="000000"/>
                </a:solidFill>
                <a:latin typeface="Arial" panose="020B0604020202020204" pitchFamily="34" charset="0"/>
                <a:ea typeface="TT Hoves"/>
                <a:cs typeface="Arial" panose="020B0604020202020204" pitchFamily="34" charset="0"/>
                <a:sym typeface="TT Hoves"/>
              </a:rPr>
              <a:t>as </a:t>
            </a:r>
            <a:r>
              <a:rPr lang="en-US" sz="2796" spc="226" dirty="0" err="1">
                <a:solidFill>
                  <a:srgbClr val="000000"/>
                </a:solidFill>
                <a:latin typeface="Arial" panose="020B0604020202020204" pitchFamily="34" charset="0"/>
                <a:ea typeface="TT Hoves"/>
                <a:cs typeface="Arial" panose="020B0604020202020204" pitchFamily="34" charset="0"/>
                <a:sym typeface="TT Hoves"/>
              </a:rPr>
              <a:t>avg_dti</a:t>
            </a:r>
            <a:endParaRPr lang="en-US" sz="2796" spc="226"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495"/>
              </a:lnSpc>
              <a:spcBef>
                <a:spcPct val="0"/>
              </a:spcBef>
            </a:pPr>
            <a:r>
              <a:rPr lang="en-US" sz="2796" spc="226" dirty="0">
                <a:solidFill>
                  <a:srgbClr val="000000"/>
                </a:solidFill>
                <a:latin typeface="Arial" panose="020B0604020202020204" pitchFamily="34" charset="0"/>
                <a:ea typeface="TT Hoves"/>
                <a:cs typeface="Arial" panose="020B0604020202020204" pitchFamily="34" charset="0"/>
                <a:sym typeface="TT Hoves"/>
              </a:rPr>
              <a:t> from </a:t>
            </a:r>
            <a:r>
              <a:rPr lang="en-US" sz="2796" spc="226" dirty="0" err="1">
                <a:solidFill>
                  <a:srgbClr val="000000"/>
                </a:solidFill>
                <a:latin typeface="Arial" panose="020B0604020202020204" pitchFamily="34" charset="0"/>
                <a:ea typeface="TT Hoves"/>
                <a:cs typeface="Arial" panose="020B0604020202020204" pitchFamily="34" charset="0"/>
                <a:sym typeface="TT Hoves"/>
              </a:rPr>
              <a:t>financial_loan</a:t>
            </a:r>
            <a:r>
              <a:rPr lang="en-US" sz="2796" spc="226" dirty="0">
                <a:solidFill>
                  <a:srgbClr val="000000"/>
                </a:solidFill>
                <a:latin typeface="TT Hoves"/>
                <a:ea typeface="TT Hoves"/>
                <a:cs typeface="TT Hoves"/>
                <a:sym typeface="TT Hoves"/>
              </a:rPr>
              <a:t>;</a:t>
            </a:r>
          </a:p>
          <a:p>
            <a:pPr algn="ctr">
              <a:lnSpc>
                <a:spcPts val="3495"/>
              </a:lnSpc>
              <a:spcBef>
                <a:spcPct val="0"/>
              </a:spcBef>
            </a:pPr>
            <a:endParaRPr lang="en-US" sz="2796" spc="226" dirty="0">
              <a:solidFill>
                <a:srgbClr val="000000"/>
              </a:solidFill>
              <a:latin typeface="TT Hoves"/>
              <a:ea typeface="TT Hoves"/>
              <a:cs typeface="TT Hoves"/>
              <a:sym typeface="TT Hoves"/>
            </a:endParaRPr>
          </a:p>
        </p:txBody>
      </p:sp>
      <p:sp>
        <p:nvSpPr>
          <p:cNvPr id="9" name="TextBox 9"/>
          <p:cNvSpPr txBox="1"/>
          <p:nvPr/>
        </p:nvSpPr>
        <p:spPr>
          <a:xfrm>
            <a:off x="5206182" y="1494059"/>
            <a:ext cx="5762107" cy="4361771"/>
          </a:xfrm>
          <a:prstGeom prst="rect">
            <a:avLst/>
          </a:prstGeom>
        </p:spPr>
        <p:txBody>
          <a:bodyPr wrap="square" lIns="0" tIns="0" rIns="0" bIns="0" rtlCol="0" anchor="t">
            <a:spAutoFit/>
          </a:bodyPr>
          <a:lstStyle/>
          <a:p>
            <a:pPr algn="ctr">
              <a:lnSpc>
                <a:spcPts val="3849"/>
              </a:lnSpc>
              <a:spcBef>
                <a:spcPct val="0"/>
              </a:spcBef>
            </a:pPr>
            <a:r>
              <a:rPr lang="en-US" sz="2800" spc="249" dirty="0">
                <a:solidFill>
                  <a:srgbClr val="000000"/>
                </a:solidFill>
                <a:latin typeface="Arial" panose="020B0604020202020204" pitchFamily="34" charset="0"/>
                <a:ea typeface="TT Hoves"/>
                <a:cs typeface="Arial" panose="020B0604020202020204" pitchFamily="34" charset="0"/>
                <a:sym typeface="TT Hoves"/>
              </a:rPr>
              <a:t>select round(avg(</a:t>
            </a:r>
            <a:r>
              <a:rPr lang="en-US" sz="2800" spc="249" dirty="0" err="1">
                <a:solidFill>
                  <a:srgbClr val="000000"/>
                </a:solidFill>
                <a:latin typeface="Arial" panose="020B0604020202020204" pitchFamily="34" charset="0"/>
                <a:ea typeface="TT Hoves"/>
                <a:cs typeface="Arial" panose="020B0604020202020204" pitchFamily="34" charset="0"/>
                <a:sym typeface="TT Hoves"/>
              </a:rPr>
              <a:t>dti</a:t>
            </a:r>
            <a:r>
              <a:rPr lang="en-US" sz="2800" spc="249" dirty="0">
                <a:solidFill>
                  <a:srgbClr val="000000"/>
                </a:solidFill>
                <a:latin typeface="Arial" panose="020B0604020202020204" pitchFamily="34" charset="0"/>
                <a:ea typeface="TT Hoves"/>
                <a:cs typeface="Arial" panose="020B0604020202020204" pitchFamily="34" charset="0"/>
                <a:sym typeface="TT Hoves"/>
              </a:rPr>
              <a:t>),4)*100 as</a:t>
            </a:r>
          </a:p>
          <a:p>
            <a:pPr algn="ctr">
              <a:lnSpc>
                <a:spcPts val="3849"/>
              </a:lnSpc>
              <a:spcBef>
                <a:spcPct val="0"/>
              </a:spcBef>
            </a:pPr>
            <a:r>
              <a:rPr lang="en-US" sz="2800" spc="249" dirty="0">
                <a:solidFill>
                  <a:srgbClr val="000000"/>
                </a:solidFill>
                <a:latin typeface="Arial" panose="020B0604020202020204" pitchFamily="34" charset="0"/>
                <a:ea typeface="TT Hoves"/>
                <a:cs typeface="Arial" panose="020B0604020202020204" pitchFamily="34" charset="0"/>
                <a:sym typeface="TT Hoves"/>
              </a:rPr>
              <a:t> </a:t>
            </a:r>
            <a:r>
              <a:rPr lang="en-US" sz="2800" spc="249" dirty="0" err="1">
                <a:solidFill>
                  <a:srgbClr val="000000"/>
                </a:solidFill>
                <a:latin typeface="Arial" panose="020B0604020202020204" pitchFamily="34" charset="0"/>
                <a:ea typeface="TT Hoves"/>
                <a:cs typeface="Arial" panose="020B0604020202020204" pitchFamily="34" charset="0"/>
                <a:sym typeface="TT Hoves"/>
              </a:rPr>
              <a:t>mtd_avg_dti</a:t>
            </a:r>
            <a:r>
              <a:rPr lang="en-US" sz="2800" spc="249" dirty="0">
                <a:solidFill>
                  <a:srgbClr val="000000"/>
                </a:solidFill>
                <a:latin typeface="Arial" panose="020B0604020202020204" pitchFamily="34" charset="0"/>
                <a:ea typeface="TT Hoves"/>
                <a:cs typeface="Arial" panose="020B0604020202020204" pitchFamily="34" charset="0"/>
                <a:sym typeface="TT Hoves"/>
              </a:rPr>
              <a:t> from</a:t>
            </a:r>
          </a:p>
          <a:p>
            <a:pPr algn="ctr">
              <a:lnSpc>
                <a:spcPts val="3849"/>
              </a:lnSpc>
              <a:spcBef>
                <a:spcPct val="0"/>
              </a:spcBef>
            </a:pPr>
            <a:r>
              <a:rPr lang="en-US" sz="2800" spc="249" dirty="0">
                <a:solidFill>
                  <a:srgbClr val="000000"/>
                </a:solidFill>
                <a:latin typeface="Arial" panose="020B0604020202020204" pitchFamily="34" charset="0"/>
                <a:ea typeface="TT Hoves"/>
                <a:cs typeface="Arial" panose="020B0604020202020204" pitchFamily="34" charset="0"/>
                <a:sym typeface="TT Hoves"/>
              </a:rPr>
              <a:t> </a:t>
            </a:r>
            <a:r>
              <a:rPr lang="en-US" sz="2800" spc="249"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800" spc="249"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849"/>
              </a:lnSpc>
              <a:spcBef>
                <a:spcPct val="0"/>
              </a:spcBef>
            </a:pPr>
            <a:r>
              <a:rPr lang="en-US" sz="2800" spc="249" dirty="0">
                <a:solidFill>
                  <a:srgbClr val="000000"/>
                </a:solidFill>
                <a:latin typeface="Arial" panose="020B0604020202020204" pitchFamily="34" charset="0"/>
                <a:ea typeface="TT Hoves"/>
                <a:cs typeface="Arial" panose="020B0604020202020204" pitchFamily="34" charset="0"/>
                <a:sym typeface="TT Hoves"/>
              </a:rPr>
              <a:t>where </a:t>
            </a:r>
            <a:r>
              <a:rPr lang="en-US" sz="2800" spc="249" dirty="0" err="1">
                <a:solidFill>
                  <a:srgbClr val="000000"/>
                </a:solidFill>
                <a:latin typeface="Arial" panose="020B0604020202020204" pitchFamily="34" charset="0"/>
                <a:ea typeface="TT Hoves"/>
                <a:cs typeface="Arial" panose="020B0604020202020204" pitchFamily="34" charset="0"/>
                <a:sym typeface="TT Hoves"/>
              </a:rPr>
              <a:t>str_to_date</a:t>
            </a:r>
            <a:r>
              <a:rPr lang="en-US" sz="2800" spc="249" dirty="0">
                <a:solidFill>
                  <a:srgbClr val="000000"/>
                </a:solidFill>
                <a:latin typeface="Arial" panose="020B0604020202020204" pitchFamily="34" charset="0"/>
                <a:ea typeface="TT Hoves"/>
                <a:cs typeface="Arial" panose="020B0604020202020204" pitchFamily="34" charset="0"/>
                <a:sym typeface="TT Hoves"/>
              </a:rPr>
              <a:t>(</a:t>
            </a:r>
            <a:r>
              <a:rPr lang="en-US" sz="2800" spc="249" dirty="0" err="1">
                <a:solidFill>
                  <a:srgbClr val="000000"/>
                </a:solidFill>
                <a:latin typeface="Arial" panose="020B0604020202020204" pitchFamily="34" charset="0"/>
                <a:ea typeface="TT Hoves"/>
                <a:cs typeface="Arial" panose="020B0604020202020204" pitchFamily="34" charset="0"/>
                <a:sym typeface="TT Hoves"/>
              </a:rPr>
              <a:t>issue_date</a:t>
            </a:r>
            <a:r>
              <a:rPr lang="en-US" sz="2800" spc="249" dirty="0">
                <a:solidFill>
                  <a:srgbClr val="000000"/>
                </a:solidFill>
                <a:latin typeface="Arial" panose="020B0604020202020204" pitchFamily="34" charset="0"/>
                <a:ea typeface="TT Hoves"/>
                <a:cs typeface="Arial" panose="020B0604020202020204" pitchFamily="34" charset="0"/>
                <a:sym typeface="TT Hoves"/>
              </a:rPr>
              <a:t> , '%d-%m-%Y')</a:t>
            </a:r>
          </a:p>
          <a:p>
            <a:pPr algn="ctr">
              <a:lnSpc>
                <a:spcPts val="3849"/>
              </a:lnSpc>
              <a:spcBef>
                <a:spcPct val="0"/>
              </a:spcBef>
            </a:pPr>
            <a:r>
              <a:rPr lang="en-US" sz="2800" spc="249" dirty="0">
                <a:solidFill>
                  <a:srgbClr val="000000"/>
                </a:solidFill>
                <a:latin typeface="Arial" panose="020B0604020202020204" pitchFamily="34" charset="0"/>
                <a:ea typeface="TT Hoves"/>
                <a:cs typeface="Arial" panose="020B0604020202020204" pitchFamily="34" charset="0"/>
                <a:sym typeface="TT Hoves"/>
              </a:rPr>
              <a:t> between '2021-12-01' and '2021-12-31';</a:t>
            </a:r>
          </a:p>
          <a:p>
            <a:pPr algn="ctr">
              <a:lnSpc>
                <a:spcPts val="3849"/>
              </a:lnSpc>
              <a:spcBef>
                <a:spcPct val="0"/>
              </a:spcBef>
            </a:pPr>
            <a:endParaRPr lang="en-US" sz="3079" spc="249" dirty="0">
              <a:solidFill>
                <a:srgbClr val="000000"/>
              </a:solidFill>
              <a:latin typeface="TT Hoves"/>
              <a:ea typeface="TT Hoves"/>
              <a:cs typeface="TT Hoves"/>
              <a:sym typeface="TT Hoves"/>
            </a:endParaRPr>
          </a:p>
        </p:txBody>
      </p:sp>
      <p:sp>
        <p:nvSpPr>
          <p:cNvPr id="10" name="TextBox 10"/>
          <p:cNvSpPr txBox="1"/>
          <p:nvPr/>
        </p:nvSpPr>
        <p:spPr>
          <a:xfrm>
            <a:off x="11133523" y="1386727"/>
            <a:ext cx="7319711" cy="3668505"/>
          </a:xfrm>
          <a:prstGeom prst="rect">
            <a:avLst/>
          </a:prstGeom>
        </p:spPr>
        <p:txBody>
          <a:bodyPr lIns="0" tIns="0" rIns="0" bIns="0" rtlCol="0" anchor="t">
            <a:spAutoFit/>
          </a:bodyPr>
          <a:lstStyle/>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select round(avg(</a:t>
            </a:r>
            <a:r>
              <a:rPr lang="en-US" sz="2800" spc="231" dirty="0" err="1">
                <a:solidFill>
                  <a:srgbClr val="000000"/>
                </a:solidFill>
                <a:latin typeface="Arial" panose="020B0604020202020204" pitchFamily="34" charset="0"/>
                <a:ea typeface="TT Hoves"/>
                <a:cs typeface="Arial" panose="020B0604020202020204" pitchFamily="34" charset="0"/>
                <a:sym typeface="TT Hoves"/>
              </a:rPr>
              <a:t>dti</a:t>
            </a:r>
            <a:r>
              <a:rPr lang="en-US" sz="2800" spc="231" dirty="0">
                <a:solidFill>
                  <a:srgbClr val="000000"/>
                </a:solidFill>
                <a:latin typeface="Arial" panose="020B0604020202020204" pitchFamily="34" charset="0"/>
                <a:ea typeface="TT Hoves"/>
                <a:cs typeface="Arial" panose="020B0604020202020204" pitchFamily="34" charset="0"/>
                <a:sym typeface="TT Hoves"/>
              </a:rPr>
              <a:t>),4)*100 as </a:t>
            </a:r>
            <a:r>
              <a:rPr lang="en-US" sz="2800" spc="231" dirty="0" err="1">
                <a:solidFill>
                  <a:srgbClr val="000000"/>
                </a:solidFill>
                <a:latin typeface="Arial" panose="020B0604020202020204" pitchFamily="34" charset="0"/>
                <a:ea typeface="TT Hoves"/>
                <a:cs typeface="Arial" panose="020B0604020202020204" pitchFamily="34" charset="0"/>
                <a:sym typeface="TT Hoves"/>
              </a:rPr>
              <a:t>pmtd_avg_dti</a:t>
            </a:r>
            <a:endParaRPr lang="en-US" sz="2800" spc="231"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 from </a:t>
            </a:r>
            <a:r>
              <a:rPr lang="en-US" sz="2800" spc="231" dirty="0" err="1">
                <a:solidFill>
                  <a:srgbClr val="000000"/>
                </a:solidFill>
                <a:latin typeface="Arial" panose="020B0604020202020204" pitchFamily="34" charset="0"/>
                <a:ea typeface="TT Hoves"/>
                <a:cs typeface="Arial" panose="020B0604020202020204" pitchFamily="34" charset="0"/>
                <a:sym typeface="TT Hoves"/>
              </a:rPr>
              <a:t>financial_loan</a:t>
            </a:r>
            <a:endParaRPr lang="en-US" sz="2800" spc="231"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where </a:t>
            </a:r>
            <a:r>
              <a:rPr lang="en-US" sz="2800" spc="231" dirty="0" err="1">
                <a:solidFill>
                  <a:srgbClr val="000000"/>
                </a:solidFill>
                <a:latin typeface="Arial" panose="020B0604020202020204" pitchFamily="34" charset="0"/>
                <a:ea typeface="TT Hoves"/>
                <a:cs typeface="Arial" panose="020B0604020202020204" pitchFamily="34" charset="0"/>
                <a:sym typeface="TT Hoves"/>
              </a:rPr>
              <a:t>str_to_date</a:t>
            </a:r>
            <a:endParaRPr lang="en-US" sz="2800" spc="231"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a:t>
            </a:r>
            <a:r>
              <a:rPr lang="en-US" sz="2800" spc="231" dirty="0" err="1">
                <a:solidFill>
                  <a:srgbClr val="000000"/>
                </a:solidFill>
                <a:latin typeface="Arial" panose="020B0604020202020204" pitchFamily="34" charset="0"/>
                <a:ea typeface="TT Hoves"/>
                <a:cs typeface="Arial" panose="020B0604020202020204" pitchFamily="34" charset="0"/>
                <a:sym typeface="TT Hoves"/>
              </a:rPr>
              <a:t>issue_date</a:t>
            </a:r>
            <a:r>
              <a:rPr lang="en-US" sz="2800" spc="231" dirty="0">
                <a:solidFill>
                  <a:srgbClr val="000000"/>
                </a:solidFill>
                <a:latin typeface="Arial" panose="020B0604020202020204" pitchFamily="34" charset="0"/>
                <a:ea typeface="TT Hoves"/>
                <a:cs typeface="Arial" panose="020B0604020202020204" pitchFamily="34" charset="0"/>
                <a:sym typeface="TT Hoves"/>
              </a:rPr>
              <a:t> , '%d-%m-%Y')</a:t>
            </a:r>
          </a:p>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 between '2021-11-01’ </a:t>
            </a:r>
          </a:p>
          <a:p>
            <a:pPr algn="ctr">
              <a:lnSpc>
                <a:spcPts val="3568"/>
              </a:lnSpc>
            </a:pPr>
            <a:r>
              <a:rPr lang="en-US" sz="2800" spc="231" dirty="0">
                <a:solidFill>
                  <a:srgbClr val="000000"/>
                </a:solidFill>
                <a:latin typeface="Arial" panose="020B0604020202020204" pitchFamily="34" charset="0"/>
                <a:ea typeface="TT Hoves"/>
                <a:cs typeface="Arial" panose="020B0604020202020204" pitchFamily="34" charset="0"/>
                <a:sym typeface="TT Hoves"/>
              </a:rPr>
              <a:t>and '2021-11-30';</a:t>
            </a:r>
          </a:p>
          <a:p>
            <a:pPr algn="ctr">
              <a:lnSpc>
                <a:spcPts val="3568"/>
              </a:lnSpc>
              <a:spcBef>
                <a:spcPct val="0"/>
              </a:spcBef>
            </a:pPr>
            <a:endParaRPr lang="en-US" sz="2854" spc="231" dirty="0">
              <a:solidFill>
                <a:srgbClr val="000000"/>
              </a:solidFill>
              <a:latin typeface="TT Hoves"/>
              <a:ea typeface="TT Hoves"/>
              <a:cs typeface="TT Hoves"/>
              <a:sym typeface="TT Hove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495440" y="4645485"/>
            <a:ext cx="7833506" cy="4823714"/>
          </a:xfrm>
          <a:custGeom>
            <a:avLst/>
            <a:gdLst/>
            <a:ahLst/>
            <a:cxnLst/>
            <a:rect l="l" t="t" r="r" b="b"/>
            <a:pathLst>
              <a:path w="7833506" h="4823714">
                <a:moveTo>
                  <a:pt x="0" y="0"/>
                </a:moveTo>
                <a:lnTo>
                  <a:pt x="7833506" y="0"/>
                </a:lnTo>
                <a:lnTo>
                  <a:pt x="7833506" y="4823714"/>
                </a:lnTo>
                <a:lnTo>
                  <a:pt x="0" y="4823714"/>
                </a:lnTo>
                <a:lnTo>
                  <a:pt x="0" y="0"/>
                </a:lnTo>
                <a:close/>
              </a:path>
            </a:pathLst>
          </a:custGeom>
          <a:blipFill>
            <a:blip r:embed="rId2"/>
            <a:stretch>
              <a:fillRect r="-32306"/>
            </a:stretch>
          </a:blipFill>
        </p:spPr>
      </p:sp>
      <p:sp>
        <p:nvSpPr>
          <p:cNvPr id="3" name="Freeform 3"/>
          <p:cNvSpPr/>
          <p:nvPr/>
        </p:nvSpPr>
        <p:spPr>
          <a:xfrm>
            <a:off x="322400" y="5083514"/>
            <a:ext cx="7611813" cy="4385686"/>
          </a:xfrm>
          <a:custGeom>
            <a:avLst/>
            <a:gdLst/>
            <a:ahLst/>
            <a:cxnLst/>
            <a:rect l="l" t="t" r="r" b="b"/>
            <a:pathLst>
              <a:path w="7611813" h="4385686">
                <a:moveTo>
                  <a:pt x="0" y="0"/>
                </a:moveTo>
                <a:lnTo>
                  <a:pt x="7611812" y="0"/>
                </a:lnTo>
                <a:lnTo>
                  <a:pt x="7611812" y="4385685"/>
                </a:lnTo>
                <a:lnTo>
                  <a:pt x="0" y="4385685"/>
                </a:lnTo>
                <a:lnTo>
                  <a:pt x="0" y="0"/>
                </a:lnTo>
                <a:close/>
              </a:path>
            </a:pathLst>
          </a:custGeom>
          <a:blipFill>
            <a:blip r:embed="rId3"/>
            <a:stretch>
              <a:fillRect r="-29792"/>
            </a:stretch>
          </a:blipFill>
        </p:spPr>
      </p:sp>
      <p:sp>
        <p:nvSpPr>
          <p:cNvPr id="4" name="TextBox 4"/>
          <p:cNvSpPr txBox="1"/>
          <p:nvPr/>
        </p:nvSpPr>
        <p:spPr>
          <a:xfrm>
            <a:off x="1969766" y="339655"/>
            <a:ext cx="5116834" cy="892764"/>
          </a:xfrm>
          <a:prstGeom prst="rect">
            <a:avLst/>
          </a:prstGeom>
        </p:spPr>
        <p:txBody>
          <a:bodyPr wrap="square" lIns="0" tIns="0" rIns="0" bIns="0" rtlCol="0" anchor="t">
            <a:spAutoFit/>
          </a:bodyPr>
          <a:lstStyle/>
          <a:p>
            <a:pPr algn="ctr">
              <a:lnSpc>
                <a:spcPts val="7194"/>
              </a:lnSpc>
              <a:spcBef>
                <a:spcPct val="0"/>
              </a:spcBef>
            </a:pPr>
            <a:r>
              <a:rPr lang="en-US" sz="5755" b="1" spc="466" dirty="0">
                <a:solidFill>
                  <a:srgbClr val="000000"/>
                </a:solidFill>
                <a:latin typeface="TT Hoves Bold"/>
                <a:ea typeface="TT Hoves Bold"/>
                <a:cs typeface="TT Hoves Bold"/>
                <a:sym typeface="TT Hoves Bold"/>
              </a:rPr>
              <a:t>Good Loan</a:t>
            </a:r>
          </a:p>
        </p:txBody>
      </p:sp>
      <p:sp>
        <p:nvSpPr>
          <p:cNvPr id="5" name="TextBox 5"/>
          <p:cNvSpPr txBox="1"/>
          <p:nvPr/>
        </p:nvSpPr>
        <p:spPr>
          <a:xfrm>
            <a:off x="10569874" y="339655"/>
            <a:ext cx="4927874" cy="878809"/>
          </a:xfrm>
          <a:prstGeom prst="rect">
            <a:avLst/>
          </a:prstGeom>
        </p:spPr>
        <p:txBody>
          <a:bodyPr lIns="0" tIns="0" rIns="0" bIns="0" rtlCol="0" anchor="t">
            <a:spAutoFit/>
          </a:bodyPr>
          <a:lstStyle/>
          <a:p>
            <a:pPr algn="ctr">
              <a:lnSpc>
                <a:spcPts val="7006"/>
              </a:lnSpc>
              <a:spcBef>
                <a:spcPct val="0"/>
              </a:spcBef>
            </a:pPr>
            <a:r>
              <a:rPr lang="en-US" sz="5604" b="1" spc="453">
                <a:solidFill>
                  <a:srgbClr val="000000"/>
                </a:solidFill>
                <a:latin typeface="TT Hoves Bold"/>
                <a:ea typeface="TT Hoves Bold"/>
                <a:cs typeface="TT Hoves Bold"/>
                <a:sym typeface="TT Hoves Bold"/>
              </a:rPr>
              <a:t>Bad Loan</a:t>
            </a:r>
          </a:p>
        </p:txBody>
      </p:sp>
      <p:sp>
        <p:nvSpPr>
          <p:cNvPr id="6" name="TextBox 6"/>
          <p:cNvSpPr txBox="1"/>
          <p:nvPr/>
        </p:nvSpPr>
        <p:spPr>
          <a:xfrm>
            <a:off x="203450" y="1797810"/>
            <a:ext cx="7849713" cy="3191460"/>
          </a:xfrm>
          <a:prstGeom prst="rect">
            <a:avLst/>
          </a:prstGeom>
        </p:spPr>
        <p:txBody>
          <a:bodyPr lIns="0" tIns="0" rIns="0" bIns="0" rtlCol="0" anchor="t">
            <a:spAutoFit/>
          </a:bodyPr>
          <a:lstStyle/>
          <a:p>
            <a:pPr algn="ctr">
              <a:lnSpc>
                <a:spcPts val="3634"/>
              </a:lnSpc>
            </a:pPr>
            <a:r>
              <a:rPr lang="en-US" sz="3200" spc="235" dirty="0">
                <a:solidFill>
                  <a:srgbClr val="000000"/>
                </a:solidFill>
                <a:latin typeface="Arial" panose="020B0604020202020204" pitchFamily="34" charset="0"/>
                <a:ea typeface="TT Hoves"/>
                <a:cs typeface="Arial" panose="020B0604020202020204" pitchFamily="34" charset="0"/>
                <a:sym typeface="TT Hoves"/>
              </a:rPr>
              <a:t>select </a:t>
            </a:r>
          </a:p>
          <a:p>
            <a:pPr algn="ctr">
              <a:lnSpc>
                <a:spcPts val="3634"/>
              </a:lnSpc>
              <a:spcBef>
                <a:spcPct val="0"/>
              </a:spcBef>
            </a:pPr>
            <a:r>
              <a:rPr lang="en-US" sz="3200" spc="235" dirty="0">
                <a:solidFill>
                  <a:srgbClr val="000000"/>
                </a:solidFill>
                <a:latin typeface="Arial" panose="020B0604020202020204" pitchFamily="34" charset="0"/>
                <a:ea typeface="TT Hoves"/>
                <a:cs typeface="Arial" panose="020B0604020202020204" pitchFamily="34" charset="0"/>
                <a:sym typeface="TT Hoves"/>
              </a:rPr>
              <a:t>(count(case when </a:t>
            </a:r>
            <a:r>
              <a:rPr lang="en-US" sz="3200" spc="235" dirty="0" err="1">
                <a:solidFill>
                  <a:srgbClr val="000000"/>
                </a:solidFill>
                <a:latin typeface="Arial" panose="020B0604020202020204" pitchFamily="34" charset="0"/>
                <a:ea typeface="TT Hoves"/>
                <a:cs typeface="Arial" panose="020B0604020202020204" pitchFamily="34" charset="0"/>
                <a:sym typeface="TT Hoves"/>
              </a:rPr>
              <a:t>loan_status</a:t>
            </a:r>
            <a:r>
              <a:rPr lang="en-US" sz="3200" spc="235" dirty="0">
                <a:solidFill>
                  <a:srgbClr val="000000"/>
                </a:solidFill>
                <a:latin typeface="Arial" panose="020B0604020202020204" pitchFamily="34" charset="0"/>
                <a:ea typeface="TT Hoves"/>
                <a:cs typeface="Arial" panose="020B0604020202020204" pitchFamily="34" charset="0"/>
                <a:sym typeface="TT Hoves"/>
              </a:rPr>
              <a:t> = 'Fully Paid' or </a:t>
            </a:r>
            <a:r>
              <a:rPr lang="en-US" sz="3200" spc="235" dirty="0" err="1">
                <a:solidFill>
                  <a:srgbClr val="000000"/>
                </a:solidFill>
                <a:latin typeface="Arial" panose="020B0604020202020204" pitchFamily="34" charset="0"/>
                <a:ea typeface="TT Hoves"/>
                <a:cs typeface="Arial" panose="020B0604020202020204" pitchFamily="34" charset="0"/>
                <a:sym typeface="TT Hoves"/>
              </a:rPr>
              <a:t>loan_status</a:t>
            </a:r>
            <a:r>
              <a:rPr lang="en-US" sz="3200" spc="235" dirty="0">
                <a:solidFill>
                  <a:srgbClr val="000000"/>
                </a:solidFill>
                <a:latin typeface="Arial" panose="020B0604020202020204" pitchFamily="34" charset="0"/>
                <a:ea typeface="TT Hoves"/>
                <a:cs typeface="Arial" panose="020B0604020202020204" pitchFamily="34" charset="0"/>
                <a:sym typeface="TT Hoves"/>
              </a:rPr>
              <a:t> = 'Current' then id end)*100)/</a:t>
            </a:r>
          </a:p>
          <a:p>
            <a:pPr algn="ctr">
              <a:lnSpc>
                <a:spcPts val="3634"/>
              </a:lnSpc>
              <a:spcBef>
                <a:spcPct val="0"/>
              </a:spcBef>
            </a:pPr>
            <a:r>
              <a:rPr lang="en-US" sz="3200" spc="235" dirty="0">
                <a:solidFill>
                  <a:srgbClr val="000000"/>
                </a:solidFill>
                <a:latin typeface="Arial" panose="020B0604020202020204" pitchFamily="34" charset="0"/>
                <a:ea typeface="TT Hoves"/>
                <a:cs typeface="Arial" panose="020B0604020202020204" pitchFamily="34" charset="0"/>
                <a:sym typeface="TT Hoves"/>
              </a:rPr>
              <a:t>count(id) as </a:t>
            </a:r>
            <a:r>
              <a:rPr lang="en-US" sz="3200" spc="235" dirty="0" err="1">
                <a:solidFill>
                  <a:srgbClr val="000000"/>
                </a:solidFill>
                <a:latin typeface="Arial" panose="020B0604020202020204" pitchFamily="34" charset="0"/>
                <a:ea typeface="TT Hoves"/>
                <a:cs typeface="Arial" panose="020B0604020202020204" pitchFamily="34" charset="0"/>
                <a:sym typeface="TT Hoves"/>
              </a:rPr>
              <a:t>good_loan_percentage</a:t>
            </a:r>
            <a:r>
              <a:rPr lang="en-US" sz="3200" spc="235" dirty="0">
                <a:solidFill>
                  <a:srgbClr val="000000"/>
                </a:solidFill>
                <a:latin typeface="Arial" panose="020B0604020202020204" pitchFamily="34" charset="0"/>
                <a:ea typeface="TT Hoves"/>
                <a:cs typeface="Arial" panose="020B0604020202020204" pitchFamily="34" charset="0"/>
                <a:sym typeface="TT Hoves"/>
              </a:rPr>
              <a:t> </a:t>
            </a:r>
          </a:p>
          <a:p>
            <a:pPr algn="ctr">
              <a:lnSpc>
                <a:spcPts val="3634"/>
              </a:lnSpc>
              <a:spcBef>
                <a:spcPct val="0"/>
              </a:spcBef>
            </a:pPr>
            <a:r>
              <a:rPr lang="en-US" sz="3200" spc="235" dirty="0">
                <a:solidFill>
                  <a:srgbClr val="000000"/>
                </a:solidFill>
                <a:latin typeface="Arial" panose="020B0604020202020204" pitchFamily="34" charset="0"/>
                <a:ea typeface="TT Hoves"/>
                <a:cs typeface="Arial" panose="020B0604020202020204" pitchFamily="34" charset="0"/>
                <a:sym typeface="TT Hoves"/>
              </a:rPr>
              <a:t>from </a:t>
            </a:r>
            <a:r>
              <a:rPr lang="en-US" sz="3200" spc="235" dirty="0" err="1">
                <a:solidFill>
                  <a:srgbClr val="000000"/>
                </a:solidFill>
                <a:latin typeface="Arial" panose="020B0604020202020204" pitchFamily="34" charset="0"/>
                <a:ea typeface="TT Hoves"/>
                <a:cs typeface="Arial" panose="020B0604020202020204" pitchFamily="34" charset="0"/>
                <a:sym typeface="TT Hoves"/>
              </a:rPr>
              <a:t>financial_loan</a:t>
            </a:r>
            <a:r>
              <a:rPr lang="en-US" sz="3200" spc="235" dirty="0">
                <a:solidFill>
                  <a:srgbClr val="000000"/>
                </a:solidFill>
                <a:latin typeface="Arial" panose="020B0604020202020204" pitchFamily="34" charset="0"/>
                <a:ea typeface="TT Hoves"/>
                <a:cs typeface="Arial" panose="020B0604020202020204" pitchFamily="34" charset="0"/>
                <a:sym typeface="TT Hoves"/>
              </a:rPr>
              <a:t>;</a:t>
            </a:r>
          </a:p>
          <a:p>
            <a:pPr algn="ctr">
              <a:lnSpc>
                <a:spcPts val="3634"/>
              </a:lnSpc>
              <a:spcBef>
                <a:spcPct val="0"/>
              </a:spcBef>
            </a:pPr>
            <a:endParaRPr lang="en-US" sz="2907" spc="235" dirty="0">
              <a:solidFill>
                <a:srgbClr val="000000"/>
              </a:solidFill>
              <a:latin typeface="TT Hoves"/>
              <a:ea typeface="TT Hoves"/>
              <a:cs typeface="TT Hoves"/>
              <a:sym typeface="TT Hoves"/>
            </a:endParaRPr>
          </a:p>
        </p:txBody>
      </p:sp>
      <p:sp>
        <p:nvSpPr>
          <p:cNvPr id="7" name="TextBox 7"/>
          <p:cNvSpPr txBox="1"/>
          <p:nvPr/>
        </p:nvSpPr>
        <p:spPr>
          <a:xfrm>
            <a:off x="8536386" y="1561205"/>
            <a:ext cx="9751614" cy="3127587"/>
          </a:xfrm>
          <a:prstGeom prst="rect">
            <a:avLst/>
          </a:prstGeom>
        </p:spPr>
        <p:txBody>
          <a:bodyPr lIns="0" tIns="0" rIns="0" bIns="0" rtlCol="0" anchor="t">
            <a:spAutoFit/>
          </a:bodyPr>
          <a:lstStyle/>
          <a:p>
            <a:pPr algn="ctr">
              <a:lnSpc>
                <a:spcPts val="4108"/>
              </a:lnSpc>
            </a:pPr>
            <a:r>
              <a:rPr lang="en-US" sz="3286" spc="266" dirty="0">
                <a:solidFill>
                  <a:srgbClr val="000000"/>
                </a:solidFill>
                <a:latin typeface="Arial" panose="020B0604020202020204" pitchFamily="34" charset="0"/>
                <a:ea typeface="TT Hoves"/>
                <a:cs typeface="Arial" panose="020B0604020202020204" pitchFamily="34" charset="0"/>
                <a:sym typeface="TT Hoves"/>
              </a:rPr>
              <a:t> select </a:t>
            </a:r>
          </a:p>
          <a:p>
            <a:pPr algn="ctr">
              <a:lnSpc>
                <a:spcPts val="4108"/>
              </a:lnSpc>
              <a:spcBef>
                <a:spcPct val="0"/>
              </a:spcBef>
            </a:pPr>
            <a:r>
              <a:rPr lang="en-US" sz="3286" spc="266" dirty="0">
                <a:solidFill>
                  <a:srgbClr val="000000"/>
                </a:solidFill>
                <a:latin typeface="Arial" panose="020B0604020202020204" pitchFamily="34" charset="0"/>
                <a:ea typeface="TT Hoves"/>
                <a:cs typeface="Arial" panose="020B0604020202020204" pitchFamily="34" charset="0"/>
                <a:sym typeface="TT Hoves"/>
              </a:rPr>
              <a:t>(count(case when </a:t>
            </a:r>
            <a:r>
              <a:rPr lang="en-US" sz="3286" spc="266" dirty="0" err="1">
                <a:solidFill>
                  <a:srgbClr val="000000"/>
                </a:solidFill>
                <a:latin typeface="Arial" panose="020B0604020202020204" pitchFamily="34" charset="0"/>
                <a:ea typeface="TT Hoves"/>
                <a:cs typeface="Arial" panose="020B0604020202020204" pitchFamily="34" charset="0"/>
                <a:sym typeface="TT Hoves"/>
              </a:rPr>
              <a:t>loan_status</a:t>
            </a:r>
            <a:r>
              <a:rPr lang="en-US" sz="3286" spc="266" dirty="0">
                <a:solidFill>
                  <a:srgbClr val="000000"/>
                </a:solidFill>
                <a:latin typeface="Arial" panose="020B0604020202020204" pitchFamily="34" charset="0"/>
                <a:ea typeface="TT Hoves"/>
                <a:cs typeface="Arial" panose="020B0604020202020204" pitchFamily="34" charset="0"/>
                <a:sym typeface="TT Hoves"/>
              </a:rPr>
              <a:t> = 'Charged Off' then id end )*100.0) /</a:t>
            </a:r>
          </a:p>
          <a:p>
            <a:pPr algn="ctr">
              <a:lnSpc>
                <a:spcPts val="4108"/>
              </a:lnSpc>
              <a:spcBef>
                <a:spcPct val="0"/>
              </a:spcBef>
            </a:pPr>
            <a:r>
              <a:rPr lang="en-US" sz="3286" spc="266" dirty="0">
                <a:solidFill>
                  <a:srgbClr val="000000"/>
                </a:solidFill>
                <a:latin typeface="Arial" panose="020B0604020202020204" pitchFamily="34" charset="0"/>
                <a:ea typeface="TT Hoves"/>
                <a:cs typeface="Arial" panose="020B0604020202020204" pitchFamily="34" charset="0"/>
                <a:sym typeface="TT Hoves"/>
              </a:rPr>
              <a:t>count(id) as </a:t>
            </a:r>
            <a:r>
              <a:rPr lang="en-US" sz="3286" spc="266" dirty="0" err="1">
                <a:solidFill>
                  <a:srgbClr val="000000"/>
                </a:solidFill>
                <a:latin typeface="Arial" panose="020B0604020202020204" pitchFamily="34" charset="0"/>
                <a:ea typeface="TT Hoves"/>
                <a:cs typeface="Arial" panose="020B0604020202020204" pitchFamily="34" charset="0"/>
                <a:sym typeface="TT Hoves"/>
              </a:rPr>
              <a:t>bad_loan_percentage</a:t>
            </a:r>
            <a:endParaRPr lang="en-US" sz="3286" spc="266" dirty="0">
              <a:solidFill>
                <a:srgbClr val="000000"/>
              </a:solidFill>
              <a:latin typeface="Arial" panose="020B0604020202020204" pitchFamily="34" charset="0"/>
              <a:ea typeface="TT Hoves"/>
              <a:cs typeface="Arial" panose="020B0604020202020204" pitchFamily="34" charset="0"/>
              <a:sym typeface="TT Hoves"/>
            </a:endParaRPr>
          </a:p>
          <a:p>
            <a:pPr algn="ctr">
              <a:lnSpc>
                <a:spcPts val="4108"/>
              </a:lnSpc>
              <a:spcBef>
                <a:spcPct val="0"/>
              </a:spcBef>
            </a:pPr>
            <a:r>
              <a:rPr lang="en-US" sz="3286" spc="266" dirty="0">
                <a:solidFill>
                  <a:srgbClr val="000000"/>
                </a:solidFill>
                <a:latin typeface="Arial" panose="020B0604020202020204" pitchFamily="34" charset="0"/>
                <a:ea typeface="TT Hoves"/>
                <a:cs typeface="Arial" panose="020B0604020202020204" pitchFamily="34" charset="0"/>
                <a:sym typeface="TT Hoves"/>
              </a:rPr>
              <a:t>from </a:t>
            </a:r>
            <a:r>
              <a:rPr lang="en-US" sz="3286" spc="266" dirty="0" err="1">
                <a:solidFill>
                  <a:srgbClr val="000000"/>
                </a:solidFill>
                <a:latin typeface="Arial" panose="020B0604020202020204" pitchFamily="34" charset="0"/>
                <a:ea typeface="TT Hoves"/>
                <a:cs typeface="Arial" panose="020B0604020202020204" pitchFamily="34" charset="0"/>
                <a:sym typeface="TT Hoves"/>
              </a:rPr>
              <a:t>financial_loan</a:t>
            </a:r>
            <a:r>
              <a:rPr lang="en-US" sz="3286" spc="266" dirty="0">
                <a:solidFill>
                  <a:srgbClr val="000000"/>
                </a:solidFill>
                <a:latin typeface="TT Hoves"/>
                <a:ea typeface="TT Hoves"/>
                <a:cs typeface="TT Hoves"/>
                <a:sym typeface="TT Hoves"/>
              </a:rPr>
              <a:t>;</a:t>
            </a:r>
          </a:p>
          <a:p>
            <a:pPr algn="ctr">
              <a:lnSpc>
                <a:spcPts val="4108"/>
              </a:lnSpc>
              <a:spcBef>
                <a:spcPct val="0"/>
              </a:spcBef>
            </a:pPr>
            <a:endParaRPr lang="en-US" sz="3286" spc="266" dirty="0">
              <a:solidFill>
                <a:srgbClr val="000000"/>
              </a:solidFill>
              <a:latin typeface="TT Hoves"/>
              <a:ea typeface="TT Hoves"/>
              <a:cs typeface="TT Hoves"/>
              <a:sym typeface="TT Hove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829BF-D808-9CB2-5F38-9E44D08AC188}"/>
              </a:ext>
            </a:extLst>
          </p:cNvPr>
          <p:cNvSpPr>
            <a:spLocks noGrp="1"/>
          </p:cNvSpPr>
          <p:nvPr>
            <p:ph type="title"/>
          </p:nvPr>
        </p:nvSpPr>
        <p:spPr>
          <a:xfrm>
            <a:off x="4495800" y="190500"/>
            <a:ext cx="8229600" cy="1143000"/>
          </a:xfrm>
        </p:spPr>
        <p:txBody>
          <a:bodyPr>
            <a:noAutofit/>
          </a:bodyPr>
          <a:lstStyle/>
          <a:p>
            <a:r>
              <a:rPr lang="en-IN" sz="7200" b="1" u="sng" dirty="0">
                <a:latin typeface="Times New Roman" panose="02020603050405020304" pitchFamily="18" charset="0"/>
                <a:cs typeface="Times New Roman" panose="02020603050405020304" pitchFamily="18" charset="0"/>
              </a:rPr>
              <a:t>Dashboard</a:t>
            </a:r>
          </a:p>
        </p:txBody>
      </p:sp>
      <p:pic>
        <p:nvPicPr>
          <p:cNvPr id="5" name="Picture 4">
            <a:extLst>
              <a:ext uri="{FF2B5EF4-FFF2-40B4-BE49-F238E27FC236}">
                <a16:creationId xmlns:a16="http://schemas.microsoft.com/office/drawing/2014/main" id="{F4615A05-7D05-A031-387C-6B9DDD2FF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2357" y="1638300"/>
            <a:ext cx="16023286" cy="8025443"/>
          </a:xfrm>
          <a:prstGeom prst="rect">
            <a:avLst/>
          </a:prstGeom>
        </p:spPr>
      </p:pic>
    </p:spTree>
    <p:extLst>
      <p:ext uri="{BB962C8B-B14F-4D97-AF65-F5344CB8AC3E}">
        <p14:creationId xmlns:p14="http://schemas.microsoft.com/office/powerpoint/2010/main" val="234701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52AC2-153D-571D-55B0-B0ED537B3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120" y="728046"/>
            <a:ext cx="16013760" cy="8830907"/>
          </a:xfrm>
          <a:prstGeom prst="rect">
            <a:avLst/>
          </a:prstGeom>
        </p:spPr>
      </p:pic>
    </p:spTree>
    <p:extLst>
      <p:ext uri="{BB962C8B-B14F-4D97-AF65-F5344CB8AC3E}">
        <p14:creationId xmlns:p14="http://schemas.microsoft.com/office/powerpoint/2010/main" val="2613511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sp>
        <p:nvSpPr>
          <p:cNvPr id="2" name="Freeform 2"/>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59800" y="3996247"/>
            <a:ext cx="16999803" cy="6717644"/>
            <a:chOff x="0" y="0"/>
            <a:chExt cx="4477314" cy="1769256"/>
          </a:xfrm>
        </p:grpSpPr>
        <p:sp>
          <p:nvSpPr>
            <p:cNvPr id="4" name="Freeform 4"/>
            <p:cNvSpPr/>
            <p:nvPr/>
          </p:nvSpPr>
          <p:spPr>
            <a:xfrm>
              <a:off x="0" y="0"/>
              <a:ext cx="4477314" cy="1769256"/>
            </a:xfrm>
            <a:custGeom>
              <a:avLst/>
              <a:gdLst/>
              <a:ahLst/>
              <a:cxnLst/>
              <a:rect l="l" t="t" r="r" b="b"/>
              <a:pathLst>
                <a:path w="4477314" h="1769256">
                  <a:moveTo>
                    <a:pt x="0" y="0"/>
                  </a:moveTo>
                  <a:lnTo>
                    <a:pt x="4477314" y="0"/>
                  </a:lnTo>
                  <a:lnTo>
                    <a:pt x="4477314" y="1769256"/>
                  </a:lnTo>
                  <a:lnTo>
                    <a:pt x="0" y="1769256"/>
                  </a:lnTo>
                  <a:close/>
                </a:path>
              </a:pathLst>
            </a:custGeom>
            <a:solidFill>
              <a:srgbClr val="FFFFFF"/>
            </a:solidFill>
          </p:spPr>
        </p:sp>
        <p:sp>
          <p:nvSpPr>
            <p:cNvPr id="5" name="TextBox 5"/>
            <p:cNvSpPr txBox="1"/>
            <p:nvPr/>
          </p:nvSpPr>
          <p:spPr>
            <a:xfrm>
              <a:off x="0" y="-38100"/>
              <a:ext cx="4477314" cy="180735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579129" y="6787352"/>
            <a:ext cx="3721949" cy="2470948"/>
          </a:xfrm>
          <a:prstGeom prst="rect">
            <a:avLst/>
          </a:prstGeom>
        </p:spPr>
        <p:txBody>
          <a:bodyPr lIns="0" tIns="0" rIns="0" bIns="0" rtlCol="0" anchor="t">
            <a:spAutoFit/>
          </a:bodyPr>
          <a:lstStyle/>
          <a:p>
            <a:pPr marL="483975" lvl="1" indent="-241987" algn="l">
              <a:lnSpc>
                <a:spcPts val="2802"/>
              </a:lnSpc>
              <a:buFont typeface="Arial"/>
              <a:buChar char="•"/>
            </a:pPr>
            <a:r>
              <a:rPr lang="en-US" sz="2241">
                <a:solidFill>
                  <a:srgbClr val="000000"/>
                </a:solidFill>
                <a:latin typeface="TT Hoves"/>
                <a:ea typeface="TT Hoves"/>
                <a:cs typeface="TT Hoves"/>
                <a:sym typeface="TT Hoves"/>
              </a:rPr>
              <a:t>Opened the raw .csv file to understand the dataset.</a:t>
            </a:r>
          </a:p>
          <a:p>
            <a:pPr marL="483975" lvl="1" indent="-241987" algn="l">
              <a:lnSpc>
                <a:spcPts val="2802"/>
              </a:lnSpc>
              <a:buFont typeface="Arial"/>
              <a:buChar char="•"/>
            </a:pPr>
            <a:r>
              <a:rPr lang="en-US" sz="2241">
                <a:solidFill>
                  <a:srgbClr val="000000"/>
                </a:solidFill>
                <a:latin typeface="TT Hoves"/>
                <a:ea typeface="TT Hoves"/>
                <a:cs typeface="TT Hoves"/>
                <a:sym typeface="TT Hoves"/>
              </a:rPr>
              <a:t>Reviewed column headers, data types, and sample values</a:t>
            </a:r>
          </a:p>
          <a:p>
            <a:pPr algn="l">
              <a:lnSpc>
                <a:spcPts val="2802"/>
              </a:lnSpc>
              <a:spcBef>
                <a:spcPct val="0"/>
              </a:spcBef>
            </a:pPr>
            <a:endParaRPr lang="en-US" sz="2241">
              <a:solidFill>
                <a:srgbClr val="000000"/>
              </a:solidFill>
              <a:latin typeface="TT Hoves"/>
              <a:ea typeface="TT Hoves"/>
              <a:cs typeface="TT Hoves"/>
              <a:sym typeface="TT Hoves"/>
            </a:endParaRPr>
          </a:p>
        </p:txBody>
      </p:sp>
      <p:sp>
        <p:nvSpPr>
          <p:cNvPr id="7" name="TextBox 7"/>
          <p:cNvSpPr txBox="1"/>
          <p:nvPr/>
        </p:nvSpPr>
        <p:spPr>
          <a:xfrm>
            <a:off x="6115414" y="6881937"/>
            <a:ext cx="4013961" cy="1894503"/>
          </a:xfrm>
          <a:prstGeom prst="rect">
            <a:avLst/>
          </a:prstGeom>
        </p:spPr>
        <p:txBody>
          <a:bodyPr lIns="0" tIns="0" rIns="0" bIns="0" rtlCol="0" anchor="t">
            <a:spAutoFit/>
          </a:bodyPr>
          <a:lstStyle/>
          <a:p>
            <a:pPr algn="l">
              <a:lnSpc>
                <a:spcPts val="3022"/>
              </a:lnSpc>
              <a:spcBef>
                <a:spcPct val="0"/>
              </a:spcBef>
            </a:pPr>
            <a:r>
              <a:rPr lang="en-US" sz="2418">
                <a:solidFill>
                  <a:srgbClr val="000000"/>
                </a:solidFill>
                <a:latin typeface="TT Hoves"/>
                <a:ea typeface="TT Hoves"/>
                <a:cs typeface="TT Hoves"/>
                <a:sym typeface="TT Hoves"/>
              </a:rPr>
              <a:t>Calculated monthly totals, average loan amounts, and status distributions using GROUP BY and SUM, COUNT, AVG functions.</a:t>
            </a:r>
          </a:p>
        </p:txBody>
      </p:sp>
      <p:sp>
        <p:nvSpPr>
          <p:cNvPr id="8" name="TextBox 8"/>
          <p:cNvSpPr txBox="1"/>
          <p:nvPr/>
        </p:nvSpPr>
        <p:spPr>
          <a:xfrm>
            <a:off x="11201995" y="7040715"/>
            <a:ext cx="4293780" cy="1567422"/>
          </a:xfrm>
          <a:prstGeom prst="rect">
            <a:avLst/>
          </a:prstGeom>
        </p:spPr>
        <p:txBody>
          <a:bodyPr lIns="0" tIns="0" rIns="0" bIns="0" rtlCol="0" anchor="t">
            <a:spAutoFit/>
          </a:bodyPr>
          <a:lstStyle/>
          <a:p>
            <a:pPr algn="l">
              <a:lnSpc>
                <a:spcPts val="3110"/>
              </a:lnSpc>
              <a:spcBef>
                <a:spcPct val="0"/>
              </a:spcBef>
            </a:pPr>
            <a:r>
              <a:rPr lang="en-US" sz="2488">
                <a:solidFill>
                  <a:srgbClr val="000000"/>
                </a:solidFill>
                <a:latin typeface="TT Hoves"/>
                <a:ea typeface="TT Hoves"/>
                <a:cs typeface="TT Hoves"/>
                <a:sym typeface="TT Hoves"/>
              </a:rPr>
              <a:t>Enabled quick understanding of loan trends, approval rates, and financial patterns through charts and dashboards.</a:t>
            </a:r>
          </a:p>
        </p:txBody>
      </p:sp>
      <p:sp>
        <p:nvSpPr>
          <p:cNvPr id="9" name="TextBox 9"/>
          <p:cNvSpPr txBox="1"/>
          <p:nvPr/>
        </p:nvSpPr>
        <p:spPr>
          <a:xfrm>
            <a:off x="1451734" y="5989762"/>
            <a:ext cx="3956792" cy="36830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Excel</a:t>
            </a:r>
          </a:p>
        </p:txBody>
      </p:sp>
      <p:sp>
        <p:nvSpPr>
          <p:cNvPr id="10" name="TextBox 10"/>
          <p:cNvSpPr txBox="1"/>
          <p:nvPr/>
        </p:nvSpPr>
        <p:spPr>
          <a:xfrm>
            <a:off x="6819787" y="5989762"/>
            <a:ext cx="2324213" cy="36830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MySql</a:t>
            </a:r>
          </a:p>
        </p:txBody>
      </p:sp>
      <p:sp>
        <p:nvSpPr>
          <p:cNvPr id="11" name="TextBox 11"/>
          <p:cNvSpPr txBox="1"/>
          <p:nvPr/>
        </p:nvSpPr>
        <p:spPr>
          <a:xfrm>
            <a:off x="12186778" y="5989762"/>
            <a:ext cx="2324213" cy="36830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Tableau</a:t>
            </a:r>
          </a:p>
        </p:txBody>
      </p:sp>
      <p:sp>
        <p:nvSpPr>
          <p:cNvPr id="12" name="AutoShape 12"/>
          <p:cNvSpPr/>
          <p:nvPr/>
        </p:nvSpPr>
        <p:spPr>
          <a:xfrm>
            <a:off x="2340781" y="4858524"/>
            <a:ext cx="10708067" cy="0"/>
          </a:xfrm>
          <a:prstGeom prst="line">
            <a:avLst/>
          </a:prstGeom>
          <a:ln w="38100" cap="flat">
            <a:solidFill>
              <a:srgbClr val="000000"/>
            </a:solidFill>
            <a:prstDash val="solid"/>
            <a:headEnd type="none" w="sm" len="sm"/>
            <a:tailEnd type="none" w="sm" len="sm"/>
          </a:ln>
        </p:spPr>
      </p:sp>
      <p:sp>
        <p:nvSpPr>
          <p:cNvPr id="13" name="AutoShape 13"/>
          <p:cNvSpPr/>
          <p:nvPr/>
        </p:nvSpPr>
        <p:spPr>
          <a:xfrm>
            <a:off x="2340781" y="4839474"/>
            <a:ext cx="0" cy="608053"/>
          </a:xfrm>
          <a:prstGeom prst="line">
            <a:avLst/>
          </a:prstGeom>
          <a:ln w="38100" cap="flat">
            <a:solidFill>
              <a:srgbClr val="000000"/>
            </a:solidFill>
            <a:prstDash val="solid"/>
            <a:headEnd type="none" w="sm" len="sm"/>
            <a:tailEnd type="arrow" w="med" len="sm"/>
          </a:ln>
        </p:spPr>
      </p:sp>
      <p:sp>
        <p:nvSpPr>
          <p:cNvPr id="14" name="AutoShape 14"/>
          <p:cNvSpPr/>
          <p:nvPr/>
        </p:nvSpPr>
        <p:spPr>
          <a:xfrm>
            <a:off x="7775238" y="4839474"/>
            <a:ext cx="0" cy="608053"/>
          </a:xfrm>
          <a:prstGeom prst="line">
            <a:avLst/>
          </a:prstGeom>
          <a:ln w="38100" cap="flat">
            <a:solidFill>
              <a:srgbClr val="000000"/>
            </a:solidFill>
            <a:prstDash val="solid"/>
            <a:headEnd type="none" w="sm" len="sm"/>
            <a:tailEnd type="arrow" w="med" len="sm"/>
          </a:ln>
        </p:spPr>
      </p:sp>
      <p:sp>
        <p:nvSpPr>
          <p:cNvPr id="15" name="AutoShape 15"/>
          <p:cNvSpPr/>
          <p:nvPr/>
        </p:nvSpPr>
        <p:spPr>
          <a:xfrm>
            <a:off x="13029798" y="4839474"/>
            <a:ext cx="0" cy="608053"/>
          </a:xfrm>
          <a:prstGeom prst="line">
            <a:avLst/>
          </a:prstGeom>
          <a:ln w="38100" cap="flat">
            <a:solidFill>
              <a:srgbClr val="000000"/>
            </a:solidFill>
            <a:prstDash val="solid"/>
            <a:headEnd type="none" w="sm" len="sm"/>
            <a:tailEnd type="arrow" w="med" len="sm"/>
          </a:ln>
        </p:spPr>
      </p:sp>
      <p:sp>
        <p:nvSpPr>
          <p:cNvPr id="16" name="Freeform 16"/>
          <p:cNvSpPr/>
          <p:nvPr/>
        </p:nvSpPr>
        <p:spPr>
          <a:xfrm>
            <a:off x="13236105" y="2515533"/>
            <a:ext cx="3503898" cy="471434"/>
          </a:xfrm>
          <a:custGeom>
            <a:avLst/>
            <a:gdLst/>
            <a:ahLst/>
            <a:cxnLst/>
            <a:rect l="l" t="t" r="r" b="b"/>
            <a:pathLst>
              <a:path w="3503898" h="471434">
                <a:moveTo>
                  <a:pt x="0" y="0"/>
                </a:moveTo>
                <a:lnTo>
                  <a:pt x="3503898" y="0"/>
                </a:lnTo>
                <a:lnTo>
                  <a:pt x="3503898" y="471433"/>
                </a:lnTo>
                <a:lnTo>
                  <a:pt x="0" y="4714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579129" y="1683493"/>
            <a:ext cx="10338396" cy="796375"/>
          </a:xfrm>
          <a:prstGeom prst="rect">
            <a:avLst/>
          </a:prstGeom>
        </p:spPr>
        <p:txBody>
          <a:bodyPr lIns="0" tIns="0" rIns="0" bIns="0" rtlCol="0" anchor="t">
            <a:spAutoFit/>
          </a:bodyPr>
          <a:lstStyle/>
          <a:p>
            <a:pPr algn="ctr">
              <a:lnSpc>
                <a:spcPts val="6358"/>
              </a:lnSpc>
              <a:spcBef>
                <a:spcPct val="0"/>
              </a:spcBef>
            </a:pPr>
            <a:r>
              <a:rPr lang="en-US" sz="5086" b="1" spc="412">
                <a:solidFill>
                  <a:srgbClr val="000000"/>
                </a:solidFill>
                <a:latin typeface="TT Hoves Bold"/>
                <a:ea typeface="TT Hoves Bold"/>
                <a:cs typeface="TT Hoves Bold"/>
                <a:sym typeface="TT Hoves Bold"/>
              </a:rPr>
              <a:t>Tools and Technologies used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36379" y="-1075040"/>
            <a:ext cx="7976162" cy="11788931"/>
            <a:chOff x="0" y="0"/>
            <a:chExt cx="2100718" cy="3104904"/>
          </a:xfrm>
        </p:grpSpPr>
        <p:sp>
          <p:nvSpPr>
            <p:cNvPr id="3" name="Freeform 3"/>
            <p:cNvSpPr/>
            <p:nvPr/>
          </p:nvSpPr>
          <p:spPr>
            <a:xfrm>
              <a:off x="0" y="0"/>
              <a:ext cx="2100718" cy="3104904"/>
            </a:xfrm>
            <a:custGeom>
              <a:avLst/>
              <a:gdLst/>
              <a:ahLst/>
              <a:cxnLst/>
              <a:rect l="l" t="t" r="r" b="b"/>
              <a:pathLst>
                <a:path w="2100718" h="3104904">
                  <a:moveTo>
                    <a:pt x="0" y="0"/>
                  </a:moveTo>
                  <a:lnTo>
                    <a:pt x="2100718" y="0"/>
                  </a:lnTo>
                  <a:lnTo>
                    <a:pt x="2100718" y="3104904"/>
                  </a:lnTo>
                  <a:lnTo>
                    <a:pt x="0" y="3104904"/>
                  </a:lnTo>
                  <a:close/>
                </a:path>
              </a:pathLst>
            </a:custGeom>
            <a:solidFill>
              <a:srgbClr val="92B8DD"/>
            </a:solidFill>
          </p:spPr>
        </p:sp>
        <p:sp>
          <p:nvSpPr>
            <p:cNvPr id="4" name="TextBox 4"/>
            <p:cNvSpPr txBox="1"/>
            <p:nvPr/>
          </p:nvSpPr>
          <p:spPr>
            <a:xfrm>
              <a:off x="0" y="-38100"/>
              <a:ext cx="2100718" cy="314300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15524" y="1822627"/>
            <a:ext cx="737279" cy="73727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B8DD"/>
            </a:solidFill>
          </p:spPr>
        </p:sp>
        <p:sp>
          <p:nvSpPr>
            <p:cNvPr id="8" name="TextBox 8"/>
            <p:cNvSpPr txBox="1"/>
            <p:nvPr/>
          </p:nvSpPr>
          <p:spPr>
            <a:xfrm>
              <a:off x="76200" y="57150"/>
              <a:ext cx="660400" cy="679450"/>
            </a:xfrm>
            <a:prstGeom prst="rect">
              <a:avLst/>
            </a:prstGeom>
          </p:spPr>
          <p:txBody>
            <a:bodyPr lIns="50800" tIns="50800" rIns="50800" bIns="50800" rtlCol="0" anchor="ctr"/>
            <a:lstStyle/>
            <a:p>
              <a:pPr algn="ctr">
                <a:lnSpc>
                  <a:spcPts val="2500"/>
                </a:lnSpc>
              </a:pPr>
              <a:r>
                <a:rPr lang="en-US" sz="2000" b="1" spc="162">
                  <a:solidFill>
                    <a:srgbClr val="000000"/>
                  </a:solidFill>
                  <a:latin typeface="TT Hoves Bold"/>
                  <a:ea typeface="TT Hoves Bold"/>
                  <a:cs typeface="TT Hoves Bold"/>
                  <a:sym typeface="TT Hoves Bold"/>
                </a:rPr>
                <a:t>01</a:t>
              </a:r>
            </a:p>
          </p:txBody>
        </p:sp>
      </p:grpSp>
      <p:grpSp>
        <p:nvGrpSpPr>
          <p:cNvPr id="9" name="Group 9"/>
          <p:cNvGrpSpPr/>
          <p:nvPr/>
        </p:nvGrpSpPr>
        <p:grpSpPr>
          <a:xfrm>
            <a:off x="1415524" y="5822888"/>
            <a:ext cx="737279" cy="73727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B8DD"/>
            </a:solidFill>
          </p:spPr>
        </p:sp>
        <p:sp>
          <p:nvSpPr>
            <p:cNvPr id="11" name="TextBox 11"/>
            <p:cNvSpPr txBox="1"/>
            <p:nvPr/>
          </p:nvSpPr>
          <p:spPr>
            <a:xfrm>
              <a:off x="76200" y="57150"/>
              <a:ext cx="660400" cy="679450"/>
            </a:xfrm>
            <a:prstGeom prst="rect">
              <a:avLst/>
            </a:prstGeom>
          </p:spPr>
          <p:txBody>
            <a:bodyPr lIns="50800" tIns="50800" rIns="50800" bIns="50800" rtlCol="0" anchor="ctr"/>
            <a:lstStyle/>
            <a:p>
              <a:pPr algn="ctr">
                <a:lnSpc>
                  <a:spcPts val="2500"/>
                </a:lnSpc>
              </a:pPr>
              <a:r>
                <a:rPr lang="en-US" sz="2000" b="1" spc="162">
                  <a:solidFill>
                    <a:srgbClr val="000000"/>
                  </a:solidFill>
                  <a:latin typeface="TT Hoves Bold"/>
                  <a:ea typeface="TT Hoves Bold"/>
                  <a:cs typeface="TT Hoves Bold"/>
                  <a:sym typeface="TT Hoves Bold"/>
                </a:rPr>
                <a:t>03</a:t>
              </a:r>
            </a:p>
          </p:txBody>
        </p:sp>
      </p:grpSp>
      <p:grpSp>
        <p:nvGrpSpPr>
          <p:cNvPr id="12" name="Group 12"/>
          <p:cNvGrpSpPr/>
          <p:nvPr/>
        </p:nvGrpSpPr>
        <p:grpSpPr>
          <a:xfrm>
            <a:off x="6350862" y="1822627"/>
            <a:ext cx="737279" cy="73727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B8DD"/>
            </a:solidFill>
          </p:spPr>
        </p:sp>
        <p:sp>
          <p:nvSpPr>
            <p:cNvPr id="14" name="TextBox 14"/>
            <p:cNvSpPr txBox="1"/>
            <p:nvPr/>
          </p:nvSpPr>
          <p:spPr>
            <a:xfrm>
              <a:off x="76200" y="57150"/>
              <a:ext cx="660400" cy="679450"/>
            </a:xfrm>
            <a:prstGeom prst="rect">
              <a:avLst/>
            </a:prstGeom>
          </p:spPr>
          <p:txBody>
            <a:bodyPr lIns="50800" tIns="50800" rIns="50800" bIns="50800" rtlCol="0" anchor="ctr"/>
            <a:lstStyle/>
            <a:p>
              <a:pPr algn="ctr">
                <a:lnSpc>
                  <a:spcPts val="2500"/>
                </a:lnSpc>
              </a:pPr>
              <a:r>
                <a:rPr lang="en-US" sz="2000" b="1" spc="162">
                  <a:solidFill>
                    <a:srgbClr val="000000"/>
                  </a:solidFill>
                  <a:latin typeface="TT Hoves Bold"/>
                  <a:ea typeface="TT Hoves Bold"/>
                  <a:cs typeface="TT Hoves Bold"/>
                  <a:sym typeface="TT Hoves Bold"/>
                </a:rPr>
                <a:t>02</a:t>
              </a:r>
            </a:p>
          </p:txBody>
        </p:sp>
      </p:grpSp>
      <p:grpSp>
        <p:nvGrpSpPr>
          <p:cNvPr id="15" name="Group 15"/>
          <p:cNvGrpSpPr/>
          <p:nvPr/>
        </p:nvGrpSpPr>
        <p:grpSpPr>
          <a:xfrm>
            <a:off x="6350862" y="5822888"/>
            <a:ext cx="737279" cy="73727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2B8DD"/>
            </a:solidFill>
          </p:spPr>
        </p:sp>
        <p:sp>
          <p:nvSpPr>
            <p:cNvPr id="17" name="TextBox 17"/>
            <p:cNvSpPr txBox="1"/>
            <p:nvPr/>
          </p:nvSpPr>
          <p:spPr>
            <a:xfrm>
              <a:off x="76200" y="57150"/>
              <a:ext cx="660400" cy="679450"/>
            </a:xfrm>
            <a:prstGeom prst="rect">
              <a:avLst/>
            </a:prstGeom>
          </p:spPr>
          <p:txBody>
            <a:bodyPr lIns="50800" tIns="50800" rIns="50800" bIns="50800" rtlCol="0" anchor="ctr"/>
            <a:lstStyle/>
            <a:p>
              <a:pPr algn="ctr">
                <a:lnSpc>
                  <a:spcPts val="2500"/>
                </a:lnSpc>
              </a:pPr>
              <a:r>
                <a:rPr lang="en-US" sz="2000" b="1" spc="162">
                  <a:solidFill>
                    <a:srgbClr val="000000"/>
                  </a:solidFill>
                  <a:latin typeface="TT Hoves Bold"/>
                  <a:ea typeface="TT Hoves Bold"/>
                  <a:cs typeface="TT Hoves Bold"/>
                  <a:sym typeface="TT Hoves Bold"/>
                </a:rPr>
                <a:t>04</a:t>
              </a:r>
            </a:p>
          </p:txBody>
        </p:sp>
      </p:grpSp>
      <p:sp>
        <p:nvSpPr>
          <p:cNvPr id="18" name="TextBox 18"/>
          <p:cNvSpPr txBox="1"/>
          <p:nvPr/>
        </p:nvSpPr>
        <p:spPr>
          <a:xfrm>
            <a:off x="11992225" y="2649475"/>
            <a:ext cx="5087266" cy="3267075"/>
          </a:xfrm>
          <a:prstGeom prst="rect">
            <a:avLst/>
          </a:prstGeom>
        </p:spPr>
        <p:txBody>
          <a:bodyPr lIns="0" tIns="0" rIns="0" bIns="0" rtlCol="0" anchor="t">
            <a:spAutoFit/>
          </a:bodyPr>
          <a:lstStyle/>
          <a:p>
            <a:pPr algn="r">
              <a:lnSpc>
                <a:spcPts val="8625"/>
              </a:lnSpc>
            </a:pPr>
            <a:r>
              <a:rPr lang="en-US" sz="7500" b="1">
                <a:solidFill>
                  <a:srgbClr val="000000"/>
                </a:solidFill>
                <a:latin typeface="TT Hoves Bold"/>
                <a:ea typeface="TT Hoves Bold"/>
                <a:cs typeface="TT Hoves Bold"/>
                <a:sym typeface="TT Hoves Bold"/>
              </a:rPr>
              <a:t>Key </a:t>
            </a:r>
          </a:p>
          <a:p>
            <a:pPr algn="r">
              <a:lnSpc>
                <a:spcPts val="8625"/>
              </a:lnSpc>
            </a:pPr>
            <a:r>
              <a:rPr lang="en-US" sz="7500" b="1">
                <a:solidFill>
                  <a:srgbClr val="000000"/>
                </a:solidFill>
                <a:latin typeface="TT Hoves Bold"/>
                <a:ea typeface="TT Hoves Bold"/>
                <a:cs typeface="TT Hoves Bold"/>
                <a:sym typeface="TT Hoves Bold"/>
              </a:rPr>
              <a:t>Insights </a:t>
            </a:r>
          </a:p>
          <a:p>
            <a:pPr algn="r">
              <a:lnSpc>
                <a:spcPts val="8625"/>
              </a:lnSpc>
            </a:pPr>
            <a:endParaRPr lang="en-US" sz="7500" b="1">
              <a:solidFill>
                <a:srgbClr val="000000"/>
              </a:solidFill>
              <a:latin typeface="TT Hoves Bold"/>
              <a:ea typeface="TT Hoves Bold"/>
              <a:cs typeface="TT Hoves Bold"/>
              <a:sym typeface="TT Hoves Bold"/>
            </a:endParaRPr>
          </a:p>
        </p:txBody>
      </p:sp>
      <p:sp>
        <p:nvSpPr>
          <p:cNvPr id="19" name="TextBox 19"/>
          <p:cNvSpPr txBox="1"/>
          <p:nvPr/>
        </p:nvSpPr>
        <p:spPr>
          <a:xfrm>
            <a:off x="1308229" y="7758933"/>
            <a:ext cx="3671664" cy="2520950"/>
          </a:xfrm>
          <a:prstGeom prst="rect">
            <a:avLst/>
          </a:prstGeom>
        </p:spPr>
        <p:txBody>
          <a:bodyPr lIns="0" tIns="0" rIns="0" bIns="0" rtlCol="0" anchor="t">
            <a:spAutoFit/>
          </a:bodyPr>
          <a:lstStyle/>
          <a:p>
            <a:pPr marL="431801" lvl="1" indent="-215900" algn="l">
              <a:lnSpc>
                <a:spcPts val="2500"/>
              </a:lnSpc>
              <a:buFont typeface="Arial"/>
              <a:buChar char="•"/>
            </a:pPr>
            <a:r>
              <a:rPr lang="en-US" sz="2000">
                <a:solidFill>
                  <a:srgbClr val="000000"/>
                </a:solidFill>
                <a:latin typeface="TT Hoves"/>
                <a:ea typeface="TT Hoves"/>
                <a:cs typeface="TT Hoves"/>
                <a:sym typeface="TT Hoves"/>
              </a:rPr>
              <a:t>Salaried employees had a higher approval rate compared to self-employed individuals.</a:t>
            </a:r>
          </a:p>
          <a:p>
            <a:pPr marL="431801" lvl="1" indent="-215900" algn="l">
              <a:lnSpc>
                <a:spcPts val="2500"/>
              </a:lnSpc>
              <a:buFont typeface="Arial"/>
              <a:buChar char="•"/>
            </a:pPr>
            <a:r>
              <a:rPr lang="en-US" sz="2000">
                <a:solidFill>
                  <a:srgbClr val="000000"/>
                </a:solidFill>
                <a:latin typeface="TT Hoves"/>
                <a:ea typeface="TT Hoves"/>
                <a:cs typeface="TT Hoves"/>
                <a:sym typeface="TT Hoves"/>
              </a:rPr>
              <a:t>Unemployed or part-time applicants had a higher rejection rate</a:t>
            </a:r>
          </a:p>
          <a:p>
            <a:pPr algn="l">
              <a:lnSpc>
                <a:spcPts val="2500"/>
              </a:lnSpc>
              <a:spcBef>
                <a:spcPct val="0"/>
              </a:spcBef>
            </a:pPr>
            <a:endParaRPr lang="en-US" sz="2000">
              <a:solidFill>
                <a:srgbClr val="000000"/>
              </a:solidFill>
              <a:latin typeface="TT Hoves"/>
              <a:ea typeface="TT Hoves"/>
              <a:cs typeface="TT Hoves"/>
              <a:sym typeface="TT Hoves"/>
            </a:endParaRPr>
          </a:p>
        </p:txBody>
      </p:sp>
      <p:sp>
        <p:nvSpPr>
          <p:cNvPr id="20" name="TextBox 20"/>
          <p:cNvSpPr txBox="1"/>
          <p:nvPr/>
        </p:nvSpPr>
        <p:spPr>
          <a:xfrm>
            <a:off x="1451734" y="3623531"/>
            <a:ext cx="3384653" cy="2325378"/>
          </a:xfrm>
          <a:prstGeom prst="rect">
            <a:avLst/>
          </a:prstGeom>
        </p:spPr>
        <p:txBody>
          <a:bodyPr lIns="0" tIns="0" rIns="0" bIns="0" rtlCol="0" anchor="t">
            <a:spAutoFit/>
          </a:bodyPr>
          <a:lstStyle/>
          <a:p>
            <a:pPr marL="398047" lvl="1" indent="-199024" algn="l">
              <a:lnSpc>
                <a:spcPts val="2304"/>
              </a:lnSpc>
              <a:buFont typeface="Arial"/>
              <a:buChar char="•"/>
            </a:pPr>
            <a:r>
              <a:rPr lang="en-US" sz="1843">
                <a:solidFill>
                  <a:srgbClr val="000000"/>
                </a:solidFill>
                <a:latin typeface="TT Hoves"/>
                <a:ea typeface="TT Hoves"/>
                <a:cs typeface="TT Hoves"/>
                <a:sym typeface="TT Hoves"/>
              </a:rPr>
              <a:t>Higher income groups (above ₹75,000/month) applied for larger loan amounts.</a:t>
            </a:r>
          </a:p>
          <a:p>
            <a:pPr marL="398047" lvl="1" indent="-199024" algn="l">
              <a:lnSpc>
                <a:spcPts val="2304"/>
              </a:lnSpc>
              <a:buFont typeface="Arial"/>
              <a:buChar char="•"/>
            </a:pPr>
            <a:r>
              <a:rPr lang="en-US" sz="1843">
                <a:solidFill>
                  <a:srgbClr val="000000"/>
                </a:solidFill>
                <a:latin typeface="TT Hoves"/>
                <a:ea typeface="TT Hoves"/>
                <a:cs typeface="TT Hoves"/>
                <a:sym typeface="TT Hoves"/>
              </a:rPr>
              <a:t>Low-income individuals typically applied for smaller short-term loans.</a:t>
            </a:r>
          </a:p>
          <a:p>
            <a:pPr algn="l">
              <a:lnSpc>
                <a:spcPts val="2304"/>
              </a:lnSpc>
              <a:spcBef>
                <a:spcPct val="0"/>
              </a:spcBef>
            </a:pPr>
            <a:endParaRPr lang="en-US" sz="1843">
              <a:solidFill>
                <a:srgbClr val="000000"/>
              </a:solidFill>
              <a:latin typeface="TT Hoves"/>
              <a:ea typeface="TT Hoves"/>
              <a:cs typeface="TT Hoves"/>
              <a:sym typeface="TT Hoves"/>
            </a:endParaRPr>
          </a:p>
        </p:txBody>
      </p:sp>
      <p:sp>
        <p:nvSpPr>
          <p:cNvPr id="21" name="TextBox 21"/>
          <p:cNvSpPr txBox="1"/>
          <p:nvPr/>
        </p:nvSpPr>
        <p:spPr>
          <a:xfrm>
            <a:off x="6350551" y="3616263"/>
            <a:ext cx="3671664" cy="2206625"/>
          </a:xfrm>
          <a:prstGeom prst="rect">
            <a:avLst/>
          </a:prstGeom>
        </p:spPr>
        <p:txBody>
          <a:bodyPr lIns="0" tIns="0" rIns="0" bIns="0" rtlCol="0" anchor="t">
            <a:spAutoFit/>
          </a:bodyPr>
          <a:lstStyle/>
          <a:p>
            <a:pPr marL="431801" lvl="1" indent="-215900" algn="l">
              <a:lnSpc>
                <a:spcPts val="2500"/>
              </a:lnSpc>
              <a:buFont typeface="Arial"/>
              <a:buChar char="•"/>
            </a:pPr>
            <a:r>
              <a:rPr lang="en-US" sz="2000">
                <a:solidFill>
                  <a:srgbClr val="000000"/>
                </a:solidFill>
                <a:latin typeface="TT Hoves"/>
                <a:ea typeface="TT Hoves"/>
                <a:cs typeface="TT Hoves"/>
                <a:sym typeface="TT Hoves"/>
              </a:rPr>
              <a:t>The total funded loan amount peaked in December, aligning with year-end expenses.</a:t>
            </a:r>
          </a:p>
          <a:p>
            <a:pPr marL="431801" lvl="1" indent="-215900" algn="l">
              <a:lnSpc>
                <a:spcPts val="2500"/>
              </a:lnSpc>
              <a:buFont typeface="Arial"/>
              <a:buChar char="•"/>
            </a:pPr>
            <a:r>
              <a:rPr lang="en-US" sz="2000">
                <a:solidFill>
                  <a:srgbClr val="000000"/>
                </a:solidFill>
                <a:latin typeface="TT Hoves"/>
                <a:ea typeface="TT Hoves"/>
                <a:cs typeface="TT Hoves"/>
                <a:sym typeface="TT Hoves"/>
              </a:rPr>
              <a:t>Loan funding is lowest during April–June.</a:t>
            </a:r>
          </a:p>
          <a:p>
            <a:pPr algn="l">
              <a:lnSpc>
                <a:spcPts val="2500"/>
              </a:lnSpc>
              <a:spcBef>
                <a:spcPct val="0"/>
              </a:spcBef>
            </a:pPr>
            <a:endParaRPr lang="en-US" sz="2000">
              <a:solidFill>
                <a:srgbClr val="000000"/>
              </a:solidFill>
              <a:latin typeface="TT Hoves"/>
              <a:ea typeface="TT Hoves"/>
              <a:cs typeface="TT Hoves"/>
              <a:sym typeface="TT Hoves"/>
            </a:endParaRPr>
          </a:p>
        </p:txBody>
      </p:sp>
      <p:sp>
        <p:nvSpPr>
          <p:cNvPr id="22" name="TextBox 22"/>
          <p:cNvSpPr txBox="1"/>
          <p:nvPr/>
        </p:nvSpPr>
        <p:spPr>
          <a:xfrm>
            <a:off x="6350862" y="7396659"/>
            <a:ext cx="3671664" cy="2835275"/>
          </a:xfrm>
          <a:prstGeom prst="rect">
            <a:avLst/>
          </a:prstGeom>
        </p:spPr>
        <p:txBody>
          <a:bodyPr lIns="0" tIns="0" rIns="0" bIns="0" rtlCol="0" anchor="t">
            <a:spAutoFit/>
          </a:bodyPr>
          <a:lstStyle/>
          <a:p>
            <a:pPr marL="431801" lvl="1" indent="-215900" algn="l">
              <a:lnSpc>
                <a:spcPts val="2500"/>
              </a:lnSpc>
              <a:buFont typeface="Arial"/>
              <a:buChar char="•"/>
            </a:pPr>
            <a:r>
              <a:rPr lang="en-US" sz="2000">
                <a:solidFill>
                  <a:srgbClr val="000000"/>
                </a:solidFill>
                <a:latin typeface="TT Hoves"/>
                <a:ea typeface="TT Hoves"/>
                <a:cs typeface="TT Hoves"/>
                <a:sym typeface="TT Hoves"/>
              </a:rPr>
              <a:t>The top three reasons for loans were: Home Renovation, Debt Consolidation, and Business Expansion.</a:t>
            </a:r>
          </a:p>
          <a:p>
            <a:pPr marL="431801" lvl="1" indent="-215900" algn="l">
              <a:lnSpc>
                <a:spcPts val="2500"/>
              </a:lnSpc>
              <a:buFont typeface="Arial"/>
              <a:buChar char="•"/>
            </a:pPr>
            <a:r>
              <a:rPr lang="en-US" sz="2000">
                <a:solidFill>
                  <a:srgbClr val="000000"/>
                </a:solidFill>
                <a:latin typeface="TT Hoves"/>
                <a:ea typeface="TT Hoves"/>
                <a:cs typeface="TT Hoves"/>
                <a:sym typeface="TT Hoves"/>
              </a:rPr>
              <a:t>Education loans had a higher rejection rate due to low collateral.</a:t>
            </a:r>
          </a:p>
          <a:p>
            <a:pPr algn="l">
              <a:lnSpc>
                <a:spcPts val="2500"/>
              </a:lnSpc>
              <a:spcBef>
                <a:spcPct val="0"/>
              </a:spcBef>
            </a:pPr>
            <a:endParaRPr lang="en-US" sz="2000">
              <a:solidFill>
                <a:srgbClr val="000000"/>
              </a:solidFill>
              <a:latin typeface="TT Hoves"/>
              <a:ea typeface="TT Hoves"/>
              <a:cs typeface="TT Hoves"/>
              <a:sym typeface="TT Hoves"/>
            </a:endParaRPr>
          </a:p>
        </p:txBody>
      </p:sp>
      <p:sp>
        <p:nvSpPr>
          <p:cNvPr id="23" name="TextBox 23"/>
          <p:cNvSpPr txBox="1"/>
          <p:nvPr/>
        </p:nvSpPr>
        <p:spPr>
          <a:xfrm>
            <a:off x="1451734" y="6740353"/>
            <a:ext cx="3920582" cy="1082118"/>
          </a:xfrm>
          <a:prstGeom prst="rect">
            <a:avLst/>
          </a:prstGeom>
        </p:spPr>
        <p:txBody>
          <a:bodyPr lIns="0" tIns="0" rIns="0" bIns="0" rtlCol="0" anchor="t">
            <a:spAutoFit/>
          </a:bodyPr>
          <a:lstStyle/>
          <a:p>
            <a:pPr algn="l">
              <a:lnSpc>
                <a:spcPts val="2848"/>
              </a:lnSpc>
            </a:pPr>
            <a:r>
              <a:rPr lang="en-US" sz="2477" b="1">
                <a:solidFill>
                  <a:srgbClr val="000000"/>
                </a:solidFill>
                <a:latin typeface="TT Hoves Bold"/>
                <a:ea typeface="TT Hoves Bold"/>
                <a:cs typeface="TT Hoves Bold"/>
                <a:sym typeface="TT Hoves Bold"/>
              </a:rPr>
              <a:t>Impact of Employment Status</a:t>
            </a:r>
          </a:p>
          <a:p>
            <a:pPr algn="l">
              <a:lnSpc>
                <a:spcPts val="2848"/>
              </a:lnSpc>
            </a:pPr>
            <a:endParaRPr lang="en-US" sz="2477" b="1">
              <a:solidFill>
                <a:srgbClr val="000000"/>
              </a:solidFill>
              <a:latin typeface="TT Hoves Bold"/>
              <a:ea typeface="TT Hoves Bold"/>
              <a:cs typeface="TT Hoves Bold"/>
              <a:sym typeface="TT Hoves Bold"/>
            </a:endParaRPr>
          </a:p>
        </p:txBody>
      </p:sp>
      <p:sp>
        <p:nvSpPr>
          <p:cNvPr id="24" name="TextBox 24"/>
          <p:cNvSpPr txBox="1"/>
          <p:nvPr/>
        </p:nvSpPr>
        <p:spPr>
          <a:xfrm>
            <a:off x="1415524" y="2740881"/>
            <a:ext cx="3956792" cy="73025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Loan Amount by Income Group</a:t>
            </a:r>
          </a:p>
        </p:txBody>
      </p:sp>
      <p:sp>
        <p:nvSpPr>
          <p:cNvPr id="25" name="TextBox 25"/>
          <p:cNvSpPr txBox="1"/>
          <p:nvPr/>
        </p:nvSpPr>
        <p:spPr>
          <a:xfrm>
            <a:off x="6065423" y="2740881"/>
            <a:ext cx="3956792" cy="36830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Monthly Funding Pattern</a:t>
            </a:r>
          </a:p>
        </p:txBody>
      </p:sp>
      <p:sp>
        <p:nvSpPr>
          <p:cNvPr id="26" name="TextBox 26"/>
          <p:cNvSpPr txBox="1"/>
          <p:nvPr/>
        </p:nvSpPr>
        <p:spPr>
          <a:xfrm>
            <a:off x="6350862" y="6740353"/>
            <a:ext cx="3956792" cy="368300"/>
          </a:xfrm>
          <a:prstGeom prst="rect">
            <a:avLst/>
          </a:prstGeom>
        </p:spPr>
        <p:txBody>
          <a:bodyPr lIns="0" tIns="0" rIns="0" bIns="0" rtlCol="0" anchor="t">
            <a:spAutoFit/>
          </a:bodyPr>
          <a:lstStyle/>
          <a:p>
            <a:pPr algn="l">
              <a:lnSpc>
                <a:spcPts val="2874"/>
              </a:lnSpc>
            </a:pPr>
            <a:r>
              <a:rPr lang="en-US" sz="2499" b="1">
                <a:solidFill>
                  <a:srgbClr val="000000"/>
                </a:solidFill>
                <a:latin typeface="TT Hoves Bold"/>
                <a:ea typeface="TT Hoves Bold"/>
                <a:cs typeface="TT Hoves Bold"/>
                <a:sym typeface="TT Hoves Bold"/>
              </a:rPr>
              <a:t>Loan Purpose Analysis</a:t>
            </a:r>
          </a:p>
        </p:txBody>
      </p:sp>
      <p:sp>
        <p:nvSpPr>
          <p:cNvPr id="27" name="Freeform 27"/>
          <p:cNvSpPr/>
          <p:nvPr/>
        </p:nvSpPr>
        <p:spPr>
          <a:xfrm>
            <a:off x="13149216" y="8786866"/>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36379" y="-1075040"/>
            <a:ext cx="7976162" cy="11788931"/>
            <a:chOff x="0" y="0"/>
            <a:chExt cx="2100718" cy="3104904"/>
          </a:xfrm>
        </p:grpSpPr>
        <p:sp>
          <p:nvSpPr>
            <p:cNvPr id="3" name="Freeform 3"/>
            <p:cNvSpPr/>
            <p:nvPr/>
          </p:nvSpPr>
          <p:spPr>
            <a:xfrm>
              <a:off x="0" y="0"/>
              <a:ext cx="2100718" cy="3104904"/>
            </a:xfrm>
            <a:custGeom>
              <a:avLst/>
              <a:gdLst/>
              <a:ahLst/>
              <a:cxnLst/>
              <a:rect l="l" t="t" r="r" b="b"/>
              <a:pathLst>
                <a:path w="2100718" h="3104904">
                  <a:moveTo>
                    <a:pt x="0" y="0"/>
                  </a:moveTo>
                  <a:lnTo>
                    <a:pt x="2100718" y="0"/>
                  </a:lnTo>
                  <a:lnTo>
                    <a:pt x="2100718" y="3104904"/>
                  </a:lnTo>
                  <a:lnTo>
                    <a:pt x="0" y="3104904"/>
                  </a:lnTo>
                  <a:close/>
                </a:path>
              </a:pathLst>
            </a:custGeom>
            <a:solidFill>
              <a:srgbClr val="92B8DD"/>
            </a:solidFill>
          </p:spPr>
        </p:sp>
        <p:sp>
          <p:nvSpPr>
            <p:cNvPr id="4" name="TextBox 4"/>
            <p:cNvSpPr txBox="1"/>
            <p:nvPr/>
          </p:nvSpPr>
          <p:spPr>
            <a:xfrm>
              <a:off x="0" y="-38100"/>
              <a:ext cx="2100718" cy="314300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2144334" y="2534167"/>
            <a:ext cx="5114966" cy="5438775"/>
          </a:xfrm>
          <a:prstGeom prst="rect">
            <a:avLst/>
          </a:prstGeom>
        </p:spPr>
        <p:txBody>
          <a:bodyPr lIns="0" tIns="0" rIns="0" bIns="0" rtlCol="0" anchor="t">
            <a:spAutoFit/>
          </a:bodyPr>
          <a:lstStyle/>
          <a:p>
            <a:pPr algn="just">
              <a:lnSpc>
                <a:spcPts val="8625"/>
              </a:lnSpc>
            </a:pPr>
            <a:r>
              <a:rPr lang="en-US" sz="7500" b="1">
                <a:solidFill>
                  <a:srgbClr val="000000"/>
                </a:solidFill>
                <a:latin typeface="TT Hoves Bold"/>
                <a:ea typeface="TT Hoves Bold"/>
                <a:cs typeface="TT Hoves Bold"/>
                <a:sym typeface="TT Hoves Bold"/>
              </a:rPr>
              <a:t>Reasons for Analyzing </a:t>
            </a:r>
          </a:p>
          <a:p>
            <a:pPr algn="just">
              <a:lnSpc>
                <a:spcPts val="8625"/>
              </a:lnSpc>
            </a:pPr>
            <a:r>
              <a:rPr lang="en-US" sz="7500" b="1">
                <a:solidFill>
                  <a:srgbClr val="000000"/>
                </a:solidFill>
                <a:latin typeface="TT Hoves Bold"/>
                <a:ea typeface="TT Hoves Bold"/>
                <a:cs typeface="TT Hoves Bold"/>
                <a:sym typeface="TT Hoves Bold"/>
              </a:rPr>
              <a:t>bank </a:t>
            </a:r>
          </a:p>
          <a:p>
            <a:pPr algn="just">
              <a:lnSpc>
                <a:spcPts val="8625"/>
              </a:lnSpc>
            </a:pPr>
            <a:r>
              <a:rPr lang="en-US" sz="7500" b="1">
                <a:solidFill>
                  <a:srgbClr val="000000"/>
                </a:solidFill>
                <a:latin typeface="TT Hoves Bold"/>
                <a:ea typeface="TT Hoves Bold"/>
                <a:cs typeface="TT Hoves Bold"/>
                <a:sym typeface="TT Hoves Bold"/>
              </a:rPr>
              <a:t>loan data  </a:t>
            </a:r>
          </a:p>
        </p:txBody>
      </p:sp>
      <p:sp>
        <p:nvSpPr>
          <p:cNvPr id="7" name="TextBox 7"/>
          <p:cNvSpPr txBox="1"/>
          <p:nvPr/>
        </p:nvSpPr>
        <p:spPr>
          <a:xfrm>
            <a:off x="1451734" y="3045681"/>
            <a:ext cx="3956792" cy="368300"/>
          </a:xfrm>
          <a:prstGeom prst="rect">
            <a:avLst/>
          </a:prstGeom>
        </p:spPr>
        <p:txBody>
          <a:bodyPr lIns="0" tIns="0" rIns="0" bIns="0" rtlCol="0" anchor="t">
            <a:spAutoFit/>
          </a:bodyPr>
          <a:lstStyle/>
          <a:p>
            <a:pPr algn="l">
              <a:lnSpc>
                <a:spcPts val="2874"/>
              </a:lnSpc>
            </a:pPr>
            <a:endParaRPr/>
          </a:p>
        </p:txBody>
      </p:sp>
      <p:sp>
        <p:nvSpPr>
          <p:cNvPr id="8" name="Freeform 8"/>
          <p:cNvSpPr/>
          <p:nvPr/>
        </p:nvSpPr>
        <p:spPr>
          <a:xfrm>
            <a:off x="13149216" y="8786866"/>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124350" y="240274"/>
            <a:ext cx="11039108" cy="2835007"/>
          </a:xfrm>
          <a:prstGeom prst="rect">
            <a:avLst/>
          </a:prstGeom>
        </p:spPr>
        <p:txBody>
          <a:bodyPr lIns="0" tIns="0" rIns="0" bIns="0" rtlCol="0" anchor="t">
            <a:spAutoFit/>
          </a:bodyPr>
          <a:lstStyle/>
          <a:p>
            <a:pPr marL="572904" lvl="1" indent="-286452" algn="ctr">
              <a:lnSpc>
                <a:spcPts val="3316"/>
              </a:lnSpc>
              <a:buFont typeface="Arial"/>
              <a:buChar char="•"/>
            </a:pPr>
            <a:r>
              <a:rPr lang="en-US" sz="2653" b="1" u="sng" spc="214" dirty="0">
                <a:solidFill>
                  <a:srgbClr val="000000"/>
                </a:solidFill>
                <a:latin typeface="TT Hoves Bold"/>
                <a:ea typeface="TT Hoves Bold"/>
                <a:cs typeface="TT Hoves Bold"/>
                <a:sym typeface="TT Hoves Bold"/>
              </a:rPr>
              <a:t>Risk Assessment</a:t>
            </a:r>
            <a:r>
              <a:rPr lang="en-US" sz="2653" b="1" spc="214" dirty="0">
                <a:solidFill>
                  <a:srgbClr val="000000"/>
                </a:solidFill>
                <a:latin typeface="TT Hoves Bold"/>
                <a:ea typeface="TT Hoves Bold"/>
                <a:cs typeface="TT Hoves Bold"/>
                <a:sym typeface="TT Hoves Bold"/>
              </a:rPr>
              <a:t>:</a:t>
            </a:r>
            <a:r>
              <a:rPr lang="en-US" sz="2653" spc="214" dirty="0">
                <a:solidFill>
                  <a:srgbClr val="000000"/>
                </a:solidFill>
                <a:latin typeface="TT Hoves"/>
                <a:ea typeface="TT Hoves"/>
                <a:cs typeface="TT Hoves"/>
                <a:sym typeface="TT Hoves"/>
              </a:rPr>
              <a:t> One of the primary purposes of </a:t>
            </a:r>
            <a:r>
              <a:rPr lang="en-US" sz="2653" spc="214" dirty="0" err="1">
                <a:solidFill>
                  <a:srgbClr val="000000"/>
                </a:solidFill>
                <a:latin typeface="TT Hoves"/>
                <a:ea typeface="TT Hoves"/>
                <a:cs typeface="TT Hoves"/>
                <a:sym typeface="TT Hoves"/>
              </a:rPr>
              <a:t>analysing</a:t>
            </a:r>
            <a:r>
              <a:rPr lang="en-US" sz="2653" spc="214" dirty="0">
                <a:solidFill>
                  <a:srgbClr val="000000"/>
                </a:solidFill>
                <a:latin typeface="TT Hoves"/>
                <a:ea typeface="TT Hoves"/>
                <a:cs typeface="TT Hoves"/>
                <a:sym typeface="TT Hoves"/>
              </a:rPr>
              <a:t> loan data is to assess the risk associated with lending to a particular individual or business. Banks use data to evaluate the creditworthiness of borrowers, predict default probabilities, and determine interest rates and lending terms.</a:t>
            </a:r>
          </a:p>
          <a:p>
            <a:pPr algn="ctr">
              <a:lnSpc>
                <a:spcPts val="2191"/>
              </a:lnSpc>
            </a:pPr>
            <a:endParaRPr lang="en-US" sz="2653" spc="214" dirty="0">
              <a:solidFill>
                <a:srgbClr val="000000"/>
              </a:solidFill>
              <a:latin typeface="TT Hoves"/>
              <a:ea typeface="TT Hoves"/>
              <a:cs typeface="TT Hoves"/>
              <a:sym typeface="TT Hoves"/>
            </a:endParaRPr>
          </a:p>
        </p:txBody>
      </p:sp>
      <p:sp>
        <p:nvSpPr>
          <p:cNvPr id="10" name="TextBox 10"/>
          <p:cNvSpPr txBox="1"/>
          <p:nvPr/>
        </p:nvSpPr>
        <p:spPr>
          <a:xfrm>
            <a:off x="193294" y="2906802"/>
            <a:ext cx="11039108" cy="2551981"/>
          </a:xfrm>
          <a:prstGeom prst="rect">
            <a:avLst/>
          </a:prstGeom>
        </p:spPr>
        <p:txBody>
          <a:bodyPr lIns="0" tIns="0" rIns="0" bIns="0" rtlCol="0" anchor="t">
            <a:spAutoFit/>
          </a:bodyPr>
          <a:lstStyle/>
          <a:p>
            <a:pPr marL="579460" lvl="1" indent="-289730" algn="ctr">
              <a:lnSpc>
                <a:spcPts val="3354"/>
              </a:lnSpc>
              <a:buFont typeface="Arial"/>
              <a:buChar char="•"/>
            </a:pPr>
            <a:r>
              <a:rPr lang="en-US" sz="2683" b="1" u="sng" spc="217" dirty="0">
                <a:solidFill>
                  <a:srgbClr val="000000"/>
                </a:solidFill>
                <a:latin typeface="TT Hoves Bold"/>
                <a:ea typeface="TT Hoves Bold"/>
                <a:cs typeface="TT Hoves Bold"/>
                <a:sym typeface="TT Hoves Bold"/>
              </a:rPr>
              <a:t>Decision-making</a:t>
            </a:r>
            <a:r>
              <a:rPr lang="en-US" sz="2683" spc="217" dirty="0">
                <a:solidFill>
                  <a:srgbClr val="000000"/>
                </a:solidFill>
                <a:latin typeface="TT Hoves"/>
                <a:ea typeface="TT Hoves"/>
                <a:cs typeface="TT Hoves"/>
                <a:sym typeface="TT Hoves"/>
              </a:rPr>
              <a:t>: Loan data analysis supports the decision-making process when evaluating loan applications. Banks use data-driven models and algorithms to make informed lending decisions, such as approving or denying loan requests.</a:t>
            </a:r>
          </a:p>
          <a:p>
            <a:pPr algn="ctr">
              <a:lnSpc>
                <a:spcPts val="2854"/>
              </a:lnSpc>
              <a:spcBef>
                <a:spcPct val="0"/>
              </a:spcBef>
            </a:pPr>
            <a:endParaRPr lang="en-US" sz="2683" spc="217" dirty="0">
              <a:solidFill>
                <a:srgbClr val="000000"/>
              </a:solidFill>
              <a:latin typeface="TT Hoves"/>
              <a:ea typeface="TT Hoves"/>
              <a:cs typeface="TT Hoves"/>
              <a:sym typeface="TT Hoves"/>
            </a:endParaRPr>
          </a:p>
        </p:txBody>
      </p:sp>
      <p:sp>
        <p:nvSpPr>
          <p:cNvPr id="11" name="TextBox 11"/>
          <p:cNvSpPr txBox="1"/>
          <p:nvPr/>
        </p:nvSpPr>
        <p:spPr>
          <a:xfrm>
            <a:off x="0" y="5458783"/>
            <a:ext cx="11536379" cy="2156360"/>
          </a:xfrm>
          <a:prstGeom prst="rect">
            <a:avLst/>
          </a:prstGeom>
        </p:spPr>
        <p:txBody>
          <a:bodyPr lIns="0" tIns="0" rIns="0" bIns="0" rtlCol="0" anchor="t">
            <a:spAutoFit/>
          </a:bodyPr>
          <a:lstStyle/>
          <a:p>
            <a:pPr marL="580064" lvl="1" indent="-290032" algn="ctr">
              <a:lnSpc>
                <a:spcPts val="3358"/>
              </a:lnSpc>
              <a:buFont typeface="Arial"/>
              <a:buChar char="•"/>
            </a:pPr>
            <a:r>
              <a:rPr lang="en-US" sz="2686" b="1" u="sng" spc="217" dirty="0">
                <a:solidFill>
                  <a:srgbClr val="000000"/>
                </a:solidFill>
                <a:latin typeface="TT Hoves Bold"/>
                <a:ea typeface="TT Hoves Bold"/>
                <a:cs typeface="TT Hoves Bold"/>
                <a:sym typeface="TT Hoves Bold"/>
              </a:rPr>
              <a:t>Fraud Detection</a:t>
            </a:r>
            <a:r>
              <a:rPr lang="en-US" sz="2686" u="sng" spc="217" dirty="0">
                <a:solidFill>
                  <a:srgbClr val="000000"/>
                </a:solidFill>
                <a:latin typeface="TT Hoves"/>
                <a:ea typeface="TT Hoves"/>
                <a:cs typeface="TT Hoves"/>
                <a:sym typeface="TT Hoves"/>
              </a:rPr>
              <a:t>: </a:t>
            </a:r>
            <a:r>
              <a:rPr lang="en-US" sz="2686" spc="217" dirty="0">
                <a:solidFill>
                  <a:srgbClr val="000000"/>
                </a:solidFill>
                <a:latin typeface="TT Hoves"/>
                <a:ea typeface="TT Hoves"/>
                <a:cs typeface="TT Hoves"/>
                <a:sym typeface="TT Hoves"/>
              </a:rPr>
              <a:t>Banks use data analysis to detect fraudulent loan applications and activities. Unusual patterns, inconsistencies, or discrepancies in loan data can trigger fraud alerts.</a:t>
            </a:r>
          </a:p>
          <a:p>
            <a:pPr algn="ctr">
              <a:lnSpc>
                <a:spcPts val="3358"/>
              </a:lnSpc>
            </a:pPr>
            <a:endParaRPr lang="en-US" sz="2686" spc="217" dirty="0">
              <a:solidFill>
                <a:srgbClr val="000000"/>
              </a:solidFill>
              <a:latin typeface="TT Hoves"/>
              <a:ea typeface="TT Hoves"/>
              <a:cs typeface="TT Hoves"/>
              <a:sym typeface="TT Hoves"/>
            </a:endParaRPr>
          </a:p>
        </p:txBody>
      </p:sp>
      <p:sp>
        <p:nvSpPr>
          <p:cNvPr id="12" name="TextBox 12"/>
          <p:cNvSpPr txBox="1"/>
          <p:nvPr/>
        </p:nvSpPr>
        <p:spPr>
          <a:xfrm>
            <a:off x="457199" y="7757111"/>
            <a:ext cx="10408705" cy="2040462"/>
          </a:xfrm>
          <a:prstGeom prst="rect">
            <a:avLst/>
          </a:prstGeom>
        </p:spPr>
        <p:txBody>
          <a:bodyPr wrap="square" lIns="0" tIns="0" rIns="0" bIns="0" rtlCol="0" anchor="t">
            <a:spAutoFit/>
          </a:bodyPr>
          <a:lstStyle/>
          <a:p>
            <a:pPr marL="554146" lvl="1" indent="-277073" algn="ctr">
              <a:lnSpc>
                <a:spcPts val="3208"/>
              </a:lnSpc>
              <a:buFont typeface="Arial"/>
              <a:buChar char="•"/>
            </a:pPr>
            <a:r>
              <a:rPr lang="en-US" sz="2566" b="1" u="sng" spc="207" dirty="0">
                <a:solidFill>
                  <a:srgbClr val="000000"/>
                </a:solidFill>
                <a:latin typeface="TT Hoves Bold"/>
                <a:ea typeface="TT Hoves Bold"/>
                <a:cs typeface="TT Hoves Bold"/>
                <a:sym typeface="TT Hoves Bold"/>
              </a:rPr>
              <a:t>Customer Insights</a:t>
            </a:r>
            <a:r>
              <a:rPr lang="en-US" sz="2566" b="1" spc="207" dirty="0">
                <a:solidFill>
                  <a:srgbClr val="000000"/>
                </a:solidFill>
                <a:latin typeface="TT Hoves Bold"/>
                <a:ea typeface="TT Hoves Bold"/>
                <a:cs typeface="TT Hoves Bold"/>
                <a:sym typeface="TT Hoves Bold"/>
              </a:rPr>
              <a:t>: </a:t>
            </a:r>
            <a:r>
              <a:rPr lang="en-US" sz="2566" spc="207" dirty="0" err="1">
                <a:solidFill>
                  <a:srgbClr val="000000"/>
                </a:solidFill>
                <a:latin typeface="TT Hoves"/>
                <a:ea typeface="TT Hoves"/>
                <a:cs typeface="TT Hoves"/>
                <a:sym typeface="TT Hoves"/>
              </a:rPr>
              <a:t>Analysing</a:t>
            </a:r>
            <a:r>
              <a:rPr lang="en-US" sz="2566" spc="207" dirty="0">
                <a:solidFill>
                  <a:srgbClr val="000000"/>
                </a:solidFill>
                <a:latin typeface="TT Hoves"/>
                <a:ea typeface="TT Hoves"/>
                <a:cs typeface="TT Hoves"/>
                <a:sym typeface="TT Hoves"/>
              </a:rPr>
              <a:t> loan data provides insights into customer </a:t>
            </a:r>
            <a:r>
              <a:rPr lang="en-US" sz="2566" spc="207" dirty="0" err="1">
                <a:solidFill>
                  <a:srgbClr val="000000"/>
                </a:solidFill>
                <a:latin typeface="TT Hoves"/>
                <a:ea typeface="TT Hoves"/>
                <a:cs typeface="TT Hoves"/>
                <a:sym typeface="TT Hoves"/>
              </a:rPr>
              <a:t>behaviour</a:t>
            </a:r>
            <a:r>
              <a:rPr lang="en-US" sz="2566" spc="207" dirty="0">
                <a:solidFill>
                  <a:srgbClr val="000000"/>
                </a:solidFill>
                <a:latin typeface="TT Hoves"/>
                <a:ea typeface="TT Hoves"/>
                <a:cs typeface="TT Hoves"/>
                <a:sym typeface="TT Hoves"/>
              </a:rPr>
              <a:t>, preferences, and needs. Banks can use these insights to tailor loan products and marketing strategies to specific customer segments.</a:t>
            </a:r>
          </a:p>
          <a:p>
            <a:pPr algn="ctr">
              <a:lnSpc>
                <a:spcPts val="3460"/>
              </a:lnSpc>
            </a:pPr>
            <a:endParaRPr lang="en-US" sz="2566" spc="207" dirty="0">
              <a:solidFill>
                <a:srgbClr val="000000"/>
              </a:solidFill>
              <a:latin typeface="TT Hoves"/>
              <a:ea typeface="TT Hoves"/>
              <a:cs typeface="TT Hoves"/>
              <a:sym typeface="TT Hove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2B8DD"/>
        </a:solidFill>
        <a:effectLst/>
      </p:bgPr>
    </p:bg>
    <p:spTree>
      <p:nvGrpSpPr>
        <p:cNvPr id="1" name=""/>
        <p:cNvGrpSpPr/>
        <p:nvPr/>
      </p:nvGrpSpPr>
      <p:grpSpPr>
        <a:xfrm>
          <a:off x="0" y="0"/>
          <a:ext cx="0" cy="0"/>
          <a:chOff x="0" y="0"/>
          <a:chExt cx="0" cy="0"/>
        </a:xfrm>
      </p:grpSpPr>
      <p:grpSp>
        <p:nvGrpSpPr>
          <p:cNvPr id="2" name="Group 2"/>
          <p:cNvGrpSpPr/>
          <p:nvPr/>
        </p:nvGrpSpPr>
        <p:grpSpPr>
          <a:xfrm>
            <a:off x="0" y="-340934"/>
            <a:ext cx="16072434" cy="8520557"/>
            <a:chOff x="0" y="0"/>
            <a:chExt cx="4233069" cy="2244097"/>
          </a:xfrm>
        </p:grpSpPr>
        <p:sp>
          <p:nvSpPr>
            <p:cNvPr id="3" name="Freeform 3"/>
            <p:cNvSpPr/>
            <p:nvPr/>
          </p:nvSpPr>
          <p:spPr>
            <a:xfrm>
              <a:off x="0" y="0"/>
              <a:ext cx="4233069" cy="2244097"/>
            </a:xfrm>
            <a:custGeom>
              <a:avLst/>
              <a:gdLst/>
              <a:ahLst/>
              <a:cxnLst/>
              <a:rect l="l" t="t" r="r" b="b"/>
              <a:pathLst>
                <a:path w="4233069" h="2244097">
                  <a:moveTo>
                    <a:pt x="0" y="0"/>
                  </a:moveTo>
                  <a:lnTo>
                    <a:pt x="4233069" y="0"/>
                  </a:lnTo>
                  <a:lnTo>
                    <a:pt x="4233069" y="2244097"/>
                  </a:lnTo>
                  <a:lnTo>
                    <a:pt x="0" y="2244097"/>
                  </a:lnTo>
                  <a:close/>
                </a:path>
              </a:pathLst>
            </a:custGeom>
            <a:solidFill>
              <a:srgbClr val="FFFFFF"/>
            </a:solidFill>
          </p:spPr>
        </p:sp>
        <p:sp>
          <p:nvSpPr>
            <p:cNvPr id="4" name="TextBox 4"/>
            <p:cNvSpPr txBox="1"/>
            <p:nvPr/>
          </p:nvSpPr>
          <p:spPr>
            <a:xfrm>
              <a:off x="0" y="-38100"/>
              <a:ext cx="4233069" cy="22821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653114" y="640862"/>
            <a:ext cx="852752" cy="806917"/>
          </a:xfrm>
          <a:custGeom>
            <a:avLst/>
            <a:gdLst/>
            <a:ahLst/>
            <a:cxnLst/>
            <a:rect l="l" t="t" r="r" b="b"/>
            <a:pathLst>
              <a:path w="852752" h="806917">
                <a:moveTo>
                  <a:pt x="0" y="0"/>
                </a:moveTo>
                <a:lnTo>
                  <a:pt x="852752" y="0"/>
                </a:lnTo>
                <a:lnTo>
                  <a:pt x="852752" y="806917"/>
                </a:lnTo>
                <a:lnTo>
                  <a:pt x="0" y="8069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AutoShape 6"/>
          <p:cNvSpPr/>
          <p:nvPr/>
        </p:nvSpPr>
        <p:spPr>
          <a:xfrm>
            <a:off x="-350272" y="9277350"/>
            <a:ext cx="14757203" cy="0"/>
          </a:xfrm>
          <a:prstGeom prst="line">
            <a:avLst/>
          </a:prstGeom>
          <a:ln w="9525" cap="flat">
            <a:solidFill>
              <a:srgbClr val="000000"/>
            </a:solidFill>
            <a:prstDash val="solid"/>
            <a:headEnd type="none" w="sm" len="sm"/>
            <a:tailEnd type="none" w="sm" len="sm"/>
          </a:ln>
        </p:spPr>
      </p:sp>
      <p:sp>
        <p:nvSpPr>
          <p:cNvPr id="7" name="Freeform 7"/>
          <p:cNvSpPr/>
          <p:nvPr/>
        </p:nvSpPr>
        <p:spPr>
          <a:xfrm rot="5400000">
            <a:off x="15563258" y="3683627"/>
            <a:ext cx="3503898" cy="471434"/>
          </a:xfrm>
          <a:custGeom>
            <a:avLst/>
            <a:gdLst/>
            <a:ahLst/>
            <a:cxnLst/>
            <a:rect l="l" t="t" r="r" b="b"/>
            <a:pathLst>
              <a:path w="3503898" h="471434">
                <a:moveTo>
                  <a:pt x="0" y="0"/>
                </a:moveTo>
                <a:lnTo>
                  <a:pt x="3503898" y="0"/>
                </a:lnTo>
                <a:lnTo>
                  <a:pt x="3503898" y="471434"/>
                </a:lnTo>
                <a:lnTo>
                  <a:pt x="0" y="4714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028700" y="3526432"/>
            <a:ext cx="7804538" cy="1622706"/>
          </a:xfrm>
          <a:prstGeom prst="rect">
            <a:avLst/>
          </a:prstGeom>
        </p:spPr>
        <p:txBody>
          <a:bodyPr lIns="0" tIns="0" rIns="0" bIns="0" rtlCol="0" anchor="t">
            <a:spAutoFit/>
          </a:bodyPr>
          <a:lstStyle/>
          <a:p>
            <a:pPr algn="l">
              <a:lnSpc>
                <a:spcPts val="12681"/>
              </a:lnSpc>
            </a:pPr>
            <a:r>
              <a:rPr lang="en-US" sz="11027" b="1">
                <a:solidFill>
                  <a:srgbClr val="000000"/>
                </a:solidFill>
                <a:latin typeface="TT Hoves Bold"/>
                <a:ea typeface="TT Hoves Bold"/>
                <a:cs typeface="TT Hoves Bold"/>
                <a:sym typeface="TT Hove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970</Words>
  <Application>Microsoft Office PowerPoint</Application>
  <PresentationFormat>Custom</PresentationFormat>
  <Paragraphs>121</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Open Sans Bold</vt:lpstr>
      <vt:lpstr>TT Hoves</vt:lpstr>
      <vt:lpstr>TT Hoves Bold</vt:lpstr>
      <vt:lpstr>Montserrat</vt:lpstr>
      <vt:lpstr>Calibri</vt:lpstr>
      <vt:lpstr>Montserrat Bold</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Analyzing Bank Loan Data</dc:title>
  <dc:creator>Srishti Tripathi</dc:creator>
  <cp:lastModifiedBy>Srishti Tripathi</cp:lastModifiedBy>
  <cp:revision>2</cp:revision>
  <dcterms:created xsi:type="dcterms:W3CDTF">2006-08-16T00:00:00Z</dcterms:created>
  <dcterms:modified xsi:type="dcterms:W3CDTF">2026-03-04T15:26:50Z</dcterms:modified>
  <dc:identifier>DAGuEgb2F_Q</dc:identifier>
</cp:coreProperties>
</file>